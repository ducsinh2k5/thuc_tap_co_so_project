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type="wide"/>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12192000" cy="6858000"/>
          <a:chOff x="0" y="0"/>
          <a:chExt cx="12192000" cy="685800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Relationship Id="rIdImg1" Type="http://schemas.openxmlformats.org/officeDocument/2006/relationships/image" Target="../media/image1.jp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Shape 3"/>
          <p:cNvSpPr/>
          <p:nvPr/>
        </p:nvSpPr>
        <p:spPr>
          <a:xfrm>
            <a:off x="0" y="6629400"/>
            <a:ext cx="12191695" cy="27432"/>
          </a:xfrm>
          <a:prstGeom prst="rect">
            <a:avLst/>
          </a:prstGeom>
          <a:solidFill>
            <a:srgbClr val="E5E7EB"/>
          </a:solidFill>
          <a:ln>
            <a:noFill/>
          </a:ln>
        </p:spPr>
      </p:sp>
      <p:sp>
        <p:nvSpPr>
          <p:cNvPr id="4" name="TextBox 4"/>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5" name="Shape 5"/>
          <p:cNvSpPr/>
          <p:nvPr/>
        </p:nvSpPr>
        <p:spPr>
          <a:xfrm>
            <a:off x="0" y="0"/>
            <a:ext cx="12191695" cy="6858000"/>
          </a:xfrm>
          <a:prstGeom prst="rect">
            <a:avLst/>
          </a:prstGeom>
          <a:solidFill>
            <a:srgbClr val="F8FAFC"/>
          </a:solidFill>
          <a:ln>
            <a:noFill/>
          </a:ln>
        </p:spPr>
      </p:sp>
      <p:sp>
        <p:nvSpPr>
          <p:cNvPr id="6" name="Shape 6"/>
          <p:cNvSpPr/>
          <p:nvPr/>
        </p:nvSpPr>
        <p:spPr>
          <a:xfrm>
            <a:off x="0" y="0"/>
            <a:ext cx="201168" cy="6858000"/>
          </a:xfrm>
          <a:prstGeom prst="rect">
            <a:avLst/>
          </a:prstGeom>
          <a:solidFill>
            <a:srgbClr val="EF4444"/>
          </a:solidFill>
          <a:ln>
            <a:noFill/>
          </a:ln>
        </p:spPr>
      </p:sp>
      <p:sp>
        <p:nvSpPr>
          <p:cNvPr id="7" name="TextBox 7"/>
          <p:cNvSpPr txBox="1"/>
          <p:nvPr/>
        </p:nvSpPr>
        <p:spPr>
          <a:xfrm>
            <a:off x="777240" y="960120"/>
            <a:ext cx="10424160" cy="1051560"/>
          </a:xfrm>
          <a:prstGeom prst="rect">
            <a:avLst/>
          </a:prstGeom>
          <a:noFill/>
          <a:ln>
            <a:noFill/>
          </a:ln>
        </p:spPr>
        <p:txBody>
          <a:bodyPr wrap="square" lIns="91440" tIns="45720" rIns="91440" bIns="45720"/>
          <a:lstStyle/>
          <a:p>
            <a:r>
              <a:rPr lang="vi-VN" sz="3400" b="1">
                <a:solidFill>
                  <a:srgbClr val="111827"/>
                </a:solidFill>
              </a:rPr>
              <a:t>Hệ thống hỗ trợ định giá xe ô tô cũ</a:t>
            </a:r>
          </a:p>
          <a:p>
            <a:r>
              <a:rPr lang="vi-VN" sz="3400" b="1">
                <a:solidFill>
                  <a:srgbClr val="111827"/>
                </a:solidFill>
              </a:rPr>
              <a:t>có xét đến hư hỏng ngoại thất</a:t>
            </a:r>
          </a:p>
        </p:txBody>
      </p:sp>
      <p:sp>
        <p:nvSpPr>
          <p:cNvPr id="8" name="TextBox 8"/>
          <p:cNvSpPr txBox="1"/>
          <p:nvPr/>
        </p:nvSpPr>
        <p:spPr>
          <a:xfrm>
            <a:off x="822960" y="2240280"/>
            <a:ext cx="8778240" cy="411480"/>
          </a:xfrm>
          <a:prstGeom prst="rect">
            <a:avLst/>
          </a:prstGeom>
          <a:noFill/>
          <a:ln>
            <a:noFill/>
          </a:ln>
        </p:spPr>
        <p:txBody>
          <a:bodyPr wrap="square" lIns="91440" tIns="45720" rIns="91440" bIns="45720"/>
          <a:lstStyle/>
          <a:p>
            <a:r>
              <a:rPr lang="vi-VN" sz="1800">
                <a:solidFill>
                  <a:srgbClr val="475569"/>
                </a:solidFill>
              </a:rPr>
              <a:t>Machine Learning + Computer Vision • XGBoost • YOLOv8s • ConvNeXt-Tiny</a:t>
            </a:r>
          </a:p>
        </p:txBody>
      </p:sp>
      <p:sp>
        <p:nvSpPr>
          <p:cNvPr id="9" name="Shape 9"/>
          <p:cNvSpPr/>
          <p:nvPr/>
        </p:nvSpPr>
        <p:spPr>
          <a:xfrm>
            <a:off x="822960" y="3063240"/>
            <a:ext cx="2423160" cy="960120"/>
          </a:xfrm>
          <a:prstGeom prst="roundRect">
            <a:avLst/>
          </a:prstGeom>
          <a:solidFill>
            <a:srgbClr val="F8FAFC"/>
          </a:solidFill>
          <a:ln w="12700">
            <a:solidFill>
              <a:srgbClr val="CBD5E1"/>
            </a:solidFill>
          </a:ln>
        </p:spPr>
      </p:sp>
      <p:sp>
        <p:nvSpPr>
          <p:cNvPr id="10" name="Shape 10"/>
          <p:cNvSpPr/>
          <p:nvPr/>
        </p:nvSpPr>
        <p:spPr>
          <a:xfrm>
            <a:off x="822960" y="3063240"/>
            <a:ext cx="73152" cy="960120"/>
          </a:xfrm>
          <a:prstGeom prst="rect">
            <a:avLst/>
          </a:prstGeom>
          <a:solidFill>
            <a:srgbClr val="2563EB"/>
          </a:solidFill>
          <a:ln>
            <a:noFill/>
          </a:ln>
        </p:spPr>
      </p:sp>
      <p:sp>
        <p:nvSpPr>
          <p:cNvPr id="11" name="TextBox 11"/>
          <p:cNvSpPr txBox="1"/>
          <p:nvPr/>
        </p:nvSpPr>
        <p:spPr>
          <a:xfrm>
            <a:off x="987552" y="3172968"/>
            <a:ext cx="2148840" cy="228600"/>
          </a:xfrm>
          <a:prstGeom prst="rect">
            <a:avLst/>
          </a:prstGeom>
          <a:noFill/>
          <a:ln>
            <a:noFill/>
          </a:ln>
        </p:spPr>
        <p:txBody>
          <a:bodyPr wrap="square" lIns="91440" tIns="45720" rIns="91440" bIns="45720"/>
          <a:lstStyle/>
          <a:p>
            <a:r>
              <a:rPr lang="vi-VN" sz="1000">
                <a:solidFill>
                  <a:srgbClr val="64748B"/>
                </a:solidFill>
              </a:rPr>
              <a:t>Tabular pricing</a:t>
            </a:r>
          </a:p>
        </p:txBody>
      </p:sp>
      <p:sp>
        <p:nvSpPr>
          <p:cNvPr id="12" name="TextBox 12"/>
          <p:cNvSpPr txBox="1"/>
          <p:nvPr/>
        </p:nvSpPr>
        <p:spPr>
          <a:xfrm>
            <a:off x="987552" y="3447288"/>
            <a:ext cx="2148840" cy="411480"/>
          </a:xfrm>
          <a:prstGeom prst="rect">
            <a:avLst/>
          </a:prstGeom>
          <a:noFill/>
          <a:ln>
            <a:noFill/>
          </a:ln>
        </p:spPr>
        <p:txBody>
          <a:bodyPr wrap="square" lIns="91440" tIns="45720" rIns="91440" bIns="45720"/>
          <a:lstStyle/>
          <a:p>
            <a:r>
              <a:rPr lang="vi-VN" sz="2200" b="1">
                <a:solidFill>
                  <a:srgbClr val="0F172A"/>
                </a:solidFill>
              </a:rPr>
              <a:t>XGBoost</a:t>
            </a:r>
          </a:p>
        </p:txBody>
      </p:sp>
      <p:sp>
        <p:nvSpPr>
          <p:cNvPr id="13" name="Shape 13"/>
          <p:cNvSpPr/>
          <p:nvPr/>
        </p:nvSpPr>
        <p:spPr>
          <a:xfrm>
            <a:off x="3520440" y="3063240"/>
            <a:ext cx="2423160" cy="960120"/>
          </a:xfrm>
          <a:prstGeom prst="roundRect">
            <a:avLst/>
          </a:prstGeom>
          <a:solidFill>
            <a:srgbClr val="F8FAFC"/>
          </a:solidFill>
          <a:ln w="12700">
            <a:solidFill>
              <a:srgbClr val="CBD5E1"/>
            </a:solidFill>
          </a:ln>
        </p:spPr>
      </p:sp>
      <p:sp>
        <p:nvSpPr>
          <p:cNvPr id="14" name="Shape 14"/>
          <p:cNvSpPr/>
          <p:nvPr/>
        </p:nvSpPr>
        <p:spPr>
          <a:xfrm>
            <a:off x="3520440" y="3063240"/>
            <a:ext cx="73152" cy="960120"/>
          </a:xfrm>
          <a:prstGeom prst="rect">
            <a:avLst/>
          </a:prstGeom>
          <a:solidFill>
            <a:srgbClr val="EF4444"/>
          </a:solidFill>
          <a:ln>
            <a:noFill/>
          </a:ln>
        </p:spPr>
      </p:sp>
      <p:sp>
        <p:nvSpPr>
          <p:cNvPr id="15" name="TextBox 15"/>
          <p:cNvSpPr txBox="1"/>
          <p:nvPr/>
        </p:nvSpPr>
        <p:spPr>
          <a:xfrm>
            <a:off x="3685032" y="3172968"/>
            <a:ext cx="2148840" cy="228600"/>
          </a:xfrm>
          <a:prstGeom prst="rect">
            <a:avLst/>
          </a:prstGeom>
          <a:noFill/>
          <a:ln>
            <a:noFill/>
          </a:ln>
        </p:spPr>
        <p:txBody>
          <a:bodyPr wrap="square" lIns="91440" tIns="45720" rIns="91440" bIns="45720"/>
          <a:lstStyle/>
          <a:p>
            <a:r>
              <a:rPr lang="vi-VN" sz="1000">
                <a:solidFill>
                  <a:srgbClr val="64748B"/>
                </a:solidFill>
              </a:rPr>
              <a:t>Damage detection</a:t>
            </a:r>
          </a:p>
        </p:txBody>
      </p:sp>
      <p:sp>
        <p:nvSpPr>
          <p:cNvPr id="16" name="TextBox 16"/>
          <p:cNvSpPr txBox="1"/>
          <p:nvPr/>
        </p:nvSpPr>
        <p:spPr>
          <a:xfrm>
            <a:off x="3685032" y="3447288"/>
            <a:ext cx="2148840" cy="411480"/>
          </a:xfrm>
          <a:prstGeom prst="rect">
            <a:avLst/>
          </a:prstGeom>
          <a:noFill/>
          <a:ln>
            <a:noFill/>
          </a:ln>
        </p:spPr>
        <p:txBody>
          <a:bodyPr wrap="square" lIns="91440" tIns="45720" rIns="91440" bIns="45720"/>
          <a:lstStyle/>
          <a:p>
            <a:r>
              <a:rPr lang="vi-VN" sz="2200" b="1">
                <a:solidFill>
                  <a:srgbClr val="0F172A"/>
                </a:solidFill>
              </a:rPr>
              <a:t>YOLOv8s</a:t>
            </a:r>
          </a:p>
        </p:txBody>
      </p:sp>
      <p:sp>
        <p:nvSpPr>
          <p:cNvPr id="17" name="Shape 17"/>
          <p:cNvSpPr/>
          <p:nvPr/>
        </p:nvSpPr>
        <p:spPr>
          <a:xfrm>
            <a:off x="6217920" y="3063240"/>
            <a:ext cx="2423160" cy="960120"/>
          </a:xfrm>
          <a:prstGeom prst="roundRect">
            <a:avLst/>
          </a:prstGeom>
          <a:solidFill>
            <a:srgbClr val="F8FAFC"/>
          </a:solidFill>
          <a:ln w="12700">
            <a:solidFill>
              <a:srgbClr val="CBD5E1"/>
            </a:solidFill>
          </a:ln>
        </p:spPr>
      </p:sp>
      <p:sp>
        <p:nvSpPr>
          <p:cNvPr id="18" name="Shape 18"/>
          <p:cNvSpPr/>
          <p:nvPr/>
        </p:nvSpPr>
        <p:spPr>
          <a:xfrm>
            <a:off x="6217920" y="3063240"/>
            <a:ext cx="73152" cy="960120"/>
          </a:xfrm>
          <a:prstGeom prst="rect">
            <a:avLst/>
          </a:prstGeom>
          <a:solidFill>
            <a:srgbClr val="7C3AED"/>
          </a:solidFill>
          <a:ln>
            <a:noFill/>
          </a:ln>
        </p:spPr>
      </p:sp>
      <p:sp>
        <p:nvSpPr>
          <p:cNvPr id="19" name="TextBox 19"/>
          <p:cNvSpPr txBox="1"/>
          <p:nvPr/>
        </p:nvSpPr>
        <p:spPr>
          <a:xfrm>
            <a:off x="6382512" y="3172968"/>
            <a:ext cx="2148840" cy="228600"/>
          </a:xfrm>
          <a:prstGeom prst="rect">
            <a:avLst/>
          </a:prstGeom>
          <a:noFill/>
          <a:ln>
            <a:noFill/>
          </a:ln>
        </p:spPr>
        <p:txBody>
          <a:bodyPr wrap="square" lIns="91440" tIns="45720" rIns="91440" bIns="45720"/>
          <a:lstStyle/>
          <a:p>
            <a:r>
              <a:rPr lang="vi-VN" sz="1000">
                <a:solidFill>
                  <a:srgbClr val="64748B"/>
                </a:solidFill>
              </a:rPr>
              <a:t>Severity</a:t>
            </a:r>
          </a:p>
        </p:txBody>
      </p:sp>
      <p:sp>
        <p:nvSpPr>
          <p:cNvPr id="20" name="TextBox 20"/>
          <p:cNvSpPr txBox="1"/>
          <p:nvPr/>
        </p:nvSpPr>
        <p:spPr>
          <a:xfrm>
            <a:off x="6382512" y="3447288"/>
            <a:ext cx="2148840" cy="411480"/>
          </a:xfrm>
          <a:prstGeom prst="rect">
            <a:avLst/>
          </a:prstGeom>
          <a:noFill/>
          <a:ln>
            <a:noFill/>
          </a:ln>
        </p:spPr>
        <p:txBody>
          <a:bodyPr wrap="square" lIns="91440" tIns="45720" rIns="91440" bIns="45720"/>
          <a:lstStyle/>
          <a:p>
            <a:r>
              <a:rPr lang="vi-VN" sz="2200" b="1">
                <a:solidFill>
                  <a:srgbClr val="0F172A"/>
                </a:solidFill>
              </a:rPr>
              <a:t>ConvNeXt</a:t>
            </a:r>
          </a:p>
        </p:txBody>
      </p:sp>
      <p:sp>
        <p:nvSpPr>
          <p:cNvPr id="21" name="Shape 21"/>
          <p:cNvSpPr/>
          <p:nvPr/>
        </p:nvSpPr>
        <p:spPr>
          <a:xfrm>
            <a:off x="8915400" y="3063240"/>
            <a:ext cx="2423160" cy="960120"/>
          </a:xfrm>
          <a:prstGeom prst="roundRect">
            <a:avLst/>
          </a:prstGeom>
          <a:solidFill>
            <a:srgbClr val="F8FAFC"/>
          </a:solidFill>
          <a:ln w="12700">
            <a:solidFill>
              <a:srgbClr val="CBD5E1"/>
            </a:solidFill>
          </a:ln>
        </p:spPr>
      </p:sp>
      <p:sp>
        <p:nvSpPr>
          <p:cNvPr id="22" name="Shape 22"/>
          <p:cNvSpPr/>
          <p:nvPr/>
        </p:nvSpPr>
        <p:spPr>
          <a:xfrm>
            <a:off x="8915400" y="3063240"/>
            <a:ext cx="73152" cy="960120"/>
          </a:xfrm>
          <a:prstGeom prst="rect">
            <a:avLst/>
          </a:prstGeom>
          <a:solidFill>
            <a:srgbClr val="16A34A"/>
          </a:solidFill>
          <a:ln>
            <a:noFill/>
          </a:ln>
        </p:spPr>
      </p:sp>
      <p:sp>
        <p:nvSpPr>
          <p:cNvPr id="23" name="TextBox 23"/>
          <p:cNvSpPr txBox="1"/>
          <p:nvPr/>
        </p:nvSpPr>
        <p:spPr>
          <a:xfrm>
            <a:off x="9079992" y="3172968"/>
            <a:ext cx="2148840" cy="228600"/>
          </a:xfrm>
          <a:prstGeom prst="rect">
            <a:avLst/>
          </a:prstGeom>
          <a:noFill/>
          <a:ln>
            <a:noFill/>
          </a:ln>
        </p:spPr>
        <p:txBody>
          <a:bodyPr wrap="square" lIns="91440" tIns="45720" rIns="91440" bIns="45720"/>
          <a:lstStyle/>
          <a:p>
            <a:r>
              <a:rPr lang="vi-VN" sz="1000">
                <a:solidFill>
                  <a:srgbClr val="64748B"/>
                </a:solidFill>
              </a:rPr>
              <a:t>Demo</a:t>
            </a:r>
          </a:p>
        </p:txBody>
      </p:sp>
      <p:sp>
        <p:nvSpPr>
          <p:cNvPr id="24" name="TextBox 24"/>
          <p:cNvSpPr txBox="1"/>
          <p:nvPr/>
        </p:nvSpPr>
        <p:spPr>
          <a:xfrm>
            <a:off x="9079992" y="3447288"/>
            <a:ext cx="2148840" cy="411480"/>
          </a:xfrm>
          <a:prstGeom prst="rect">
            <a:avLst/>
          </a:prstGeom>
          <a:noFill/>
          <a:ln>
            <a:noFill/>
          </a:ln>
        </p:spPr>
        <p:txBody>
          <a:bodyPr wrap="square" lIns="91440" tIns="45720" rIns="91440" bIns="45720"/>
          <a:lstStyle/>
          <a:p>
            <a:r>
              <a:rPr lang="vi-VN" sz="2200" b="1">
                <a:solidFill>
                  <a:srgbClr val="0F172A"/>
                </a:solidFill>
              </a:rPr>
              <a:t>Streamlit</a:t>
            </a:r>
          </a:p>
        </p:txBody>
      </p:sp>
      <p:sp>
        <p:nvSpPr>
          <p:cNvPr id="25" name="TextBox 25"/>
          <p:cNvSpPr txBox="1"/>
          <p:nvPr/>
        </p:nvSpPr>
        <p:spPr>
          <a:xfrm>
            <a:off x="822960" y="5623560"/>
            <a:ext cx="9601200" cy="320040"/>
          </a:xfrm>
          <a:prstGeom prst="rect">
            <a:avLst/>
          </a:prstGeom>
          <a:noFill/>
          <a:ln>
            <a:noFill/>
          </a:ln>
        </p:spPr>
        <p:txBody>
          <a:bodyPr wrap="square" lIns="91440" tIns="45720" rIns="91440" bIns="45720"/>
          <a:lstStyle/>
          <a:p>
            <a:r>
              <a:rPr lang="vi-VN" sz="1400">
                <a:solidFill>
                  <a:srgbClr val="334155"/>
                </a:solidFill>
              </a:rPr>
              <a:t>Sinh viên: ................................     GVHD: ................................     Môn: Thực tập cơ sở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Lý do chọn đề tài</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Bài toán định giá xe cũ cần kết hợp cả thông tin kỹ thuật và tình trạng ngoại thất.</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Bullets 7"/>
          <p:cNvSpPr txBox="1"/>
          <p:nvPr/>
        </p:nvSpPr>
        <p:spPr>
          <a:xfrm>
            <a:off x="685800" y="1325880"/>
            <a:ext cx="5760720" cy="3474720"/>
          </a:xfrm>
          <a:prstGeom prst="rect">
            <a:avLst/>
          </a:prstGeom>
          <a:noFill/>
          <a:ln>
            <a:noFill/>
          </a:ln>
        </p:spPr>
        <p:txBody>
          <a:bodyPr wrap="square" lIns="0" tIns="0" rIns="0" bIns="0"/>
          <a:lstStyle/>
          <a:p>
            <a:pPr marL="342900" indent="-171450">
              <a:buChar char="•"/>
            </a:pPr>
            <a:r>
              <a:rPr lang="vi-VN" sz="2000">
                <a:solidFill>
                  <a:srgbClr val="111827"/>
                </a:solidFill>
              </a:rPr>
              <a:t>Giá xe cũ không chỉ phụ thuộc vào hãng, đời xe, số km, nhiên liệu hay hộp số.</a:t>
            </a:r>
          </a:p>
          <a:p>
            <a:pPr marL="342900" indent="-171450">
              <a:buChar char="•"/>
            </a:pPr>
            <a:r>
              <a:rPr lang="vi-VN" sz="2000">
                <a:solidFill>
                  <a:srgbClr val="111827"/>
                </a:solidFill>
              </a:rPr>
              <a:t>Tình trạng ngoại thất như xước, móp, nứt, vỡ đèn cũng ảnh hưởng trực tiếp đến giá trị xe.</a:t>
            </a:r>
          </a:p>
          <a:p>
            <a:pPr marL="342900" indent="-171450">
              <a:buChar char="•"/>
            </a:pPr>
            <a:r>
              <a:rPr lang="vi-VN" sz="2000">
                <a:solidFill>
                  <a:srgbClr val="111827"/>
                </a:solidFill>
              </a:rPr>
              <a:t>Nhiều hệ thống định giá chỉ dùng dữ liệu bảng, chưa khai thác tín hiệu từ ảnh xe.</a:t>
            </a:r>
          </a:p>
          <a:p>
            <a:pPr marL="342900" indent="-171450">
              <a:buChar char="•"/>
            </a:pPr>
            <a:r>
              <a:rPr lang="vi-VN" sz="2000">
                <a:solidFill>
                  <a:srgbClr val="111827"/>
                </a:solidFill>
              </a:rPr>
              <a:t>Dự án xây dựng pipeline thử nghiệm kết hợp dữ liệu bảng và ảnh để hỗ trợ định giá sát thực tế hơn.</a:t>
            </a:r>
          </a:p>
        </p:txBody>
      </p:sp>
      <p:sp>
        <p:nvSpPr>
          <p:cNvPr id="8" name="Shape 8"/>
          <p:cNvSpPr/>
          <p:nvPr/>
        </p:nvSpPr>
        <p:spPr>
          <a:xfrm>
            <a:off x="6720840" y="1371600"/>
            <a:ext cx="4709160" cy="3566160"/>
          </a:xfrm>
          <a:prstGeom prst="roundRect">
            <a:avLst/>
          </a:prstGeom>
          <a:solidFill>
            <a:srgbClr val="FEF2F2"/>
          </a:solidFill>
          <a:ln w="12700">
            <a:solidFill>
              <a:srgbClr val="FECACA"/>
            </a:solidFill>
          </a:ln>
        </p:spPr>
      </p:sp>
      <p:sp>
        <p:nvSpPr>
          <p:cNvPr id="9" name="TextBox 9"/>
          <p:cNvSpPr txBox="1"/>
          <p:nvPr/>
        </p:nvSpPr>
        <p:spPr>
          <a:xfrm>
            <a:off x="6995160" y="1691640"/>
            <a:ext cx="4114800" cy="411480"/>
          </a:xfrm>
          <a:prstGeom prst="rect">
            <a:avLst/>
          </a:prstGeom>
          <a:noFill/>
          <a:ln>
            <a:noFill/>
          </a:ln>
        </p:spPr>
        <p:txBody>
          <a:bodyPr wrap="square" lIns="91440" tIns="45720" rIns="91440" bIns="45720"/>
          <a:lstStyle/>
          <a:p>
            <a:r>
              <a:rPr lang="vi-VN" sz="2400" b="1">
                <a:solidFill>
                  <a:srgbClr val="991B1B"/>
                </a:solidFill>
              </a:rPr>
              <a:t>Ý tưởng chính</a:t>
            </a:r>
          </a:p>
        </p:txBody>
      </p:sp>
      <p:sp>
        <p:nvSpPr>
          <p:cNvPr id="10" name="Bullets 10"/>
          <p:cNvSpPr txBox="1"/>
          <p:nvPr/>
        </p:nvSpPr>
        <p:spPr>
          <a:xfrm>
            <a:off x="6995160" y="2240280"/>
            <a:ext cx="4069080" cy="2331720"/>
          </a:xfrm>
          <a:prstGeom prst="rect">
            <a:avLst/>
          </a:prstGeom>
          <a:noFill/>
          <a:ln>
            <a:noFill/>
          </a:ln>
        </p:spPr>
        <p:txBody>
          <a:bodyPr wrap="square" lIns="0" tIns="0" rIns="0" bIns="0"/>
          <a:lstStyle/>
          <a:p>
            <a:pPr marL="342900" indent="-171450">
              <a:buChar char="•"/>
            </a:pPr>
            <a:r>
              <a:rPr lang="vi-VN" sz="1800">
                <a:solidFill>
                  <a:srgbClr val="7F1D1D"/>
                </a:solidFill>
              </a:rPr>
              <a:t>XGBoost dự đoán giá cơ sở.</a:t>
            </a:r>
          </a:p>
          <a:p>
            <a:pPr marL="342900" indent="-171450">
              <a:buChar char="•"/>
            </a:pPr>
            <a:r>
              <a:rPr lang="vi-VN" sz="1800">
                <a:solidFill>
                  <a:srgbClr val="7F1D1D"/>
                </a:solidFill>
              </a:rPr>
              <a:t>YOLO phát hiện vùng hư hỏng.</a:t>
            </a:r>
          </a:p>
          <a:p>
            <a:pPr marL="342900" indent="-171450">
              <a:buChar char="•"/>
            </a:pPr>
            <a:r>
              <a:rPr lang="vi-VN" sz="1800">
                <a:solidFill>
                  <a:srgbClr val="7F1D1D"/>
                </a:solidFill>
              </a:rPr>
              <a:t>CNN phân loại mức độ hư hỏng.</a:t>
            </a:r>
          </a:p>
          <a:p>
            <a:pPr marL="342900" indent="-171450">
              <a:buChar char="•"/>
            </a:pPr>
            <a:r>
              <a:rPr lang="vi-VN" sz="1800">
                <a:solidFill>
                  <a:srgbClr val="7F1D1D"/>
                </a:solidFill>
              </a:rPr>
              <a:t>Rule-based layer điều chỉnh giá cuối.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Mục tiêu và phạm vi</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Dự án là một demo đa mô hình, không phải hệ thống định giá thương mại hoàn chỉnh.</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685800" y="1234440"/>
            <a:ext cx="2606040" cy="960120"/>
          </a:xfrm>
          <a:prstGeom prst="roundRect">
            <a:avLst/>
          </a:prstGeom>
          <a:solidFill>
            <a:srgbClr val="F8FAFC"/>
          </a:solidFill>
          <a:ln w="12700">
            <a:solidFill>
              <a:srgbClr val="CBD5E1"/>
            </a:solidFill>
          </a:ln>
        </p:spPr>
      </p:sp>
      <p:sp>
        <p:nvSpPr>
          <p:cNvPr id="8" name="Shape 8"/>
          <p:cNvSpPr/>
          <p:nvPr/>
        </p:nvSpPr>
        <p:spPr>
          <a:xfrm>
            <a:off x="685800" y="1234440"/>
            <a:ext cx="73152" cy="960120"/>
          </a:xfrm>
          <a:prstGeom prst="rect">
            <a:avLst/>
          </a:prstGeom>
          <a:solidFill>
            <a:srgbClr val="2563EB"/>
          </a:solidFill>
          <a:ln>
            <a:noFill/>
          </a:ln>
        </p:spPr>
      </p:sp>
      <p:sp>
        <p:nvSpPr>
          <p:cNvPr id="9" name="TextBox 9"/>
          <p:cNvSpPr txBox="1"/>
          <p:nvPr/>
        </p:nvSpPr>
        <p:spPr>
          <a:xfrm>
            <a:off x="850392" y="1344168"/>
            <a:ext cx="2331720" cy="228600"/>
          </a:xfrm>
          <a:prstGeom prst="rect">
            <a:avLst/>
          </a:prstGeom>
          <a:noFill/>
          <a:ln>
            <a:noFill/>
          </a:ln>
        </p:spPr>
        <p:txBody>
          <a:bodyPr wrap="square" lIns="91440" tIns="45720" rIns="91440" bIns="45720"/>
          <a:lstStyle/>
          <a:p>
            <a:r>
              <a:rPr lang="vi-VN" sz="1000">
                <a:solidFill>
                  <a:srgbClr val="64748B"/>
                </a:solidFill>
              </a:rPr>
              <a:t>Mục tiêu 1</a:t>
            </a:r>
          </a:p>
        </p:txBody>
      </p:sp>
      <p:sp>
        <p:nvSpPr>
          <p:cNvPr id="10" name="TextBox 10"/>
          <p:cNvSpPr txBox="1"/>
          <p:nvPr/>
        </p:nvSpPr>
        <p:spPr>
          <a:xfrm>
            <a:off x="850392" y="1618488"/>
            <a:ext cx="2331720" cy="411480"/>
          </a:xfrm>
          <a:prstGeom prst="rect">
            <a:avLst/>
          </a:prstGeom>
          <a:noFill/>
          <a:ln>
            <a:noFill/>
          </a:ln>
        </p:spPr>
        <p:txBody>
          <a:bodyPr wrap="square" lIns="91440" tIns="45720" rIns="91440" bIns="45720"/>
          <a:lstStyle/>
          <a:p>
            <a:r>
              <a:rPr lang="vi-VN" sz="2200" b="1">
                <a:solidFill>
                  <a:srgbClr val="0F172A"/>
                </a:solidFill>
              </a:rPr>
              <a:t>Base price</a:t>
            </a:r>
          </a:p>
        </p:txBody>
      </p:sp>
      <p:sp>
        <p:nvSpPr>
          <p:cNvPr id="11" name="Shape 11"/>
          <p:cNvSpPr/>
          <p:nvPr/>
        </p:nvSpPr>
        <p:spPr>
          <a:xfrm>
            <a:off x="3566160" y="1234440"/>
            <a:ext cx="2606040" cy="960120"/>
          </a:xfrm>
          <a:prstGeom prst="roundRect">
            <a:avLst/>
          </a:prstGeom>
          <a:solidFill>
            <a:srgbClr val="F8FAFC"/>
          </a:solidFill>
          <a:ln w="12700">
            <a:solidFill>
              <a:srgbClr val="CBD5E1"/>
            </a:solidFill>
          </a:ln>
        </p:spPr>
      </p:sp>
      <p:sp>
        <p:nvSpPr>
          <p:cNvPr id="12" name="Shape 12"/>
          <p:cNvSpPr/>
          <p:nvPr/>
        </p:nvSpPr>
        <p:spPr>
          <a:xfrm>
            <a:off x="3566160" y="1234440"/>
            <a:ext cx="73152" cy="960120"/>
          </a:xfrm>
          <a:prstGeom prst="rect">
            <a:avLst/>
          </a:prstGeom>
          <a:solidFill>
            <a:srgbClr val="EF4444"/>
          </a:solidFill>
          <a:ln>
            <a:noFill/>
          </a:ln>
        </p:spPr>
      </p:sp>
      <p:sp>
        <p:nvSpPr>
          <p:cNvPr id="13" name="TextBox 13"/>
          <p:cNvSpPr txBox="1"/>
          <p:nvPr/>
        </p:nvSpPr>
        <p:spPr>
          <a:xfrm>
            <a:off x="3730752" y="1344168"/>
            <a:ext cx="2331720" cy="228600"/>
          </a:xfrm>
          <a:prstGeom prst="rect">
            <a:avLst/>
          </a:prstGeom>
          <a:noFill/>
          <a:ln>
            <a:noFill/>
          </a:ln>
        </p:spPr>
        <p:txBody>
          <a:bodyPr wrap="square" lIns="91440" tIns="45720" rIns="91440" bIns="45720"/>
          <a:lstStyle/>
          <a:p>
            <a:r>
              <a:rPr lang="vi-VN" sz="1000">
                <a:solidFill>
                  <a:srgbClr val="64748B"/>
                </a:solidFill>
              </a:rPr>
              <a:t>Mục tiêu 2</a:t>
            </a:r>
          </a:p>
        </p:txBody>
      </p:sp>
      <p:sp>
        <p:nvSpPr>
          <p:cNvPr id="14" name="TextBox 14"/>
          <p:cNvSpPr txBox="1"/>
          <p:nvPr/>
        </p:nvSpPr>
        <p:spPr>
          <a:xfrm>
            <a:off x="3730752" y="1618488"/>
            <a:ext cx="2331720" cy="411480"/>
          </a:xfrm>
          <a:prstGeom prst="rect">
            <a:avLst/>
          </a:prstGeom>
          <a:noFill/>
          <a:ln>
            <a:noFill/>
          </a:ln>
        </p:spPr>
        <p:txBody>
          <a:bodyPr wrap="square" lIns="91440" tIns="45720" rIns="91440" bIns="45720"/>
          <a:lstStyle/>
          <a:p>
            <a:r>
              <a:rPr lang="vi-VN" sz="2200" b="1">
                <a:solidFill>
                  <a:srgbClr val="0F172A"/>
                </a:solidFill>
              </a:rPr>
              <a:t>Damage detection</a:t>
            </a:r>
          </a:p>
        </p:txBody>
      </p:sp>
      <p:sp>
        <p:nvSpPr>
          <p:cNvPr id="15" name="Shape 15"/>
          <p:cNvSpPr/>
          <p:nvPr/>
        </p:nvSpPr>
        <p:spPr>
          <a:xfrm>
            <a:off x="6446520" y="1234440"/>
            <a:ext cx="2606040" cy="960120"/>
          </a:xfrm>
          <a:prstGeom prst="roundRect">
            <a:avLst/>
          </a:prstGeom>
          <a:solidFill>
            <a:srgbClr val="F8FAFC"/>
          </a:solidFill>
          <a:ln w="12700">
            <a:solidFill>
              <a:srgbClr val="CBD5E1"/>
            </a:solidFill>
          </a:ln>
        </p:spPr>
      </p:sp>
      <p:sp>
        <p:nvSpPr>
          <p:cNvPr id="16" name="Shape 16"/>
          <p:cNvSpPr/>
          <p:nvPr/>
        </p:nvSpPr>
        <p:spPr>
          <a:xfrm>
            <a:off x="6446520" y="1234440"/>
            <a:ext cx="73152" cy="960120"/>
          </a:xfrm>
          <a:prstGeom prst="rect">
            <a:avLst/>
          </a:prstGeom>
          <a:solidFill>
            <a:srgbClr val="7C3AED"/>
          </a:solidFill>
          <a:ln>
            <a:noFill/>
          </a:ln>
        </p:spPr>
      </p:sp>
      <p:sp>
        <p:nvSpPr>
          <p:cNvPr id="17" name="TextBox 17"/>
          <p:cNvSpPr txBox="1"/>
          <p:nvPr/>
        </p:nvSpPr>
        <p:spPr>
          <a:xfrm>
            <a:off x="6611112" y="1344168"/>
            <a:ext cx="2331720" cy="228600"/>
          </a:xfrm>
          <a:prstGeom prst="rect">
            <a:avLst/>
          </a:prstGeom>
          <a:noFill/>
          <a:ln>
            <a:noFill/>
          </a:ln>
        </p:spPr>
        <p:txBody>
          <a:bodyPr wrap="square" lIns="91440" tIns="45720" rIns="91440" bIns="45720"/>
          <a:lstStyle/>
          <a:p>
            <a:r>
              <a:rPr lang="vi-VN" sz="1000">
                <a:solidFill>
                  <a:srgbClr val="64748B"/>
                </a:solidFill>
              </a:rPr>
              <a:t>Mục tiêu 3</a:t>
            </a:r>
          </a:p>
        </p:txBody>
      </p:sp>
      <p:sp>
        <p:nvSpPr>
          <p:cNvPr id="18" name="TextBox 18"/>
          <p:cNvSpPr txBox="1"/>
          <p:nvPr/>
        </p:nvSpPr>
        <p:spPr>
          <a:xfrm>
            <a:off x="6611112" y="1618488"/>
            <a:ext cx="2331720" cy="411480"/>
          </a:xfrm>
          <a:prstGeom prst="rect">
            <a:avLst/>
          </a:prstGeom>
          <a:noFill/>
          <a:ln>
            <a:noFill/>
          </a:ln>
        </p:spPr>
        <p:txBody>
          <a:bodyPr wrap="square" lIns="91440" tIns="45720" rIns="91440" bIns="45720"/>
          <a:lstStyle/>
          <a:p>
            <a:r>
              <a:rPr lang="vi-VN" sz="2200" b="1">
                <a:solidFill>
                  <a:srgbClr val="0F172A"/>
                </a:solidFill>
              </a:rPr>
              <a:t>Severity</a:t>
            </a:r>
          </a:p>
        </p:txBody>
      </p:sp>
      <p:sp>
        <p:nvSpPr>
          <p:cNvPr id="19" name="Shape 19"/>
          <p:cNvSpPr/>
          <p:nvPr/>
        </p:nvSpPr>
        <p:spPr>
          <a:xfrm>
            <a:off x="9326880" y="1234440"/>
            <a:ext cx="2606040" cy="960120"/>
          </a:xfrm>
          <a:prstGeom prst="roundRect">
            <a:avLst/>
          </a:prstGeom>
          <a:solidFill>
            <a:srgbClr val="F8FAFC"/>
          </a:solidFill>
          <a:ln w="12700">
            <a:solidFill>
              <a:srgbClr val="CBD5E1"/>
            </a:solidFill>
          </a:ln>
        </p:spPr>
      </p:sp>
      <p:sp>
        <p:nvSpPr>
          <p:cNvPr id="20" name="Shape 20"/>
          <p:cNvSpPr/>
          <p:nvPr/>
        </p:nvSpPr>
        <p:spPr>
          <a:xfrm>
            <a:off x="9326880" y="1234440"/>
            <a:ext cx="73152" cy="960120"/>
          </a:xfrm>
          <a:prstGeom prst="rect">
            <a:avLst/>
          </a:prstGeom>
          <a:solidFill>
            <a:srgbClr val="16A34A"/>
          </a:solidFill>
          <a:ln>
            <a:noFill/>
          </a:ln>
        </p:spPr>
      </p:sp>
      <p:sp>
        <p:nvSpPr>
          <p:cNvPr id="21" name="TextBox 21"/>
          <p:cNvSpPr txBox="1"/>
          <p:nvPr/>
        </p:nvSpPr>
        <p:spPr>
          <a:xfrm>
            <a:off x="9491472" y="1344168"/>
            <a:ext cx="2331720" cy="228600"/>
          </a:xfrm>
          <a:prstGeom prst="rect">
            <a:avLst/>
          </a:prstGeom>
          <a:noFill/>
          <a:ln>
            <a:noFill/>
          </a:ln>
        </p:spPr>
        <p:txBody>
          <a:bodyPr wrap="square" lIns="91440" tIns="45720" rIns="91440" bIns="45720"/>
          <a:lstStyle/>
          <a:p>
            <a:r>
              <a:rPr lang="vi-VN" sz="1000">
                <a:solidFill>
                  <a:srgbClr val="64748B"/>
                </a:solidFill>
              </a:rPr>
              <a:t>Mục tiêu 4</a:t>
            </a:r>
          </a:p>
        </p:txBody>
      </p:sp>
      <p:sp>
        <p:nvSpPr>
          <p:cNvPr id="22" name="TextBox 22"/>
          <p:cNvSpPr txBox="1"/>
          <p:nvPr/>
        </p:nvSpPr>
        <p:spPr>
          <a:xfrm>
            <a:off x="9491472" y="1618488"/>
            <a:ext cx="2331720" cy="411480"/>
          </a:xfrm>
          <a:prstGeom prst="rect">
            <a:avLst/>
          </a:prstGeom>
          <a:noFill/>
          <a:ln>
            <a:noFill/>
          </a:ln>
        </p:spPr>
        <p:txBody>
          <a:bodyPr wrap="square" lIns="91440" tIns="45720" rIns="91440" bIns="45720"/>
          <a:lstStyle/>
          <a:p>
            <a:r>
              <a:rPr lang="vi-VN" sz="2200" b="1">
                <a:solidFill>
                  <a:srgbClr val="0F172A"/>
                </a:solidFill>
              </a:rPr>
              <a:t>Adjusted price</a:t>
            </a:r>
          </a:p>
        </p:txBody>
      </p:sp>
      <p:sp>
        <p:nvSpPr>
          <p:cNvPr id="23" name="Bullets 23"/>
          <p:cNvSpPr txBox="1"/>
          <p:nvPr/>
        </p:nvSpPr>
        <p:spPr>
          <a:xfrm>
            <a:off x="822960" y="2743200"/>
            <a:ext cx="5394960" cy="2286000"/>
          </a:xfrm>
          <a:prstGeom prst="rect">
            <a:avLst/>
          </a:prstGeom>
          <a:noFill/>
          <a:ln>
            <a:noFill/>
          </a:ln>
        </p:spPr>
        <p:txBody>
          <a:bodyPr wrap="square" lIns="0" tIns="0" rIns="0" bIns="0"/>
          <a:lstStyle/>
          <a:p>
            <a:pPr marL="342900" indent="-171450">
              <a:buChar char="•"/>
            </a:pPr>
            <a:r>
              <a:rPr lang="vi-VN" sz="2000">
                <a:solidFill>
                  <a:srgbClr val="111827"/>
                </a:solidFill>
              </a:rPr>
              <a:t>Đầu vào: thông tin xe dạng bảng và ảnh xe tùy chọn.</a:t>
            </a:r>
          </a:p>
          <a:p>
            <a:pPr marL="342900" indent="-171450">
              <a:buChar char="•"/>
            </a:pPr>
            <a:r>
              <a:rPr lang="vi-VN" sz="2000">
                <a:solidFill>
                  <a:srgbClr val="111827"/>
                </a:solidFill>
              </a:rPr>
              <a:t>Đầu ra: giá cơ sở, mức giảm do hư hỏng và giá sau điều chỉnh.</a:t>
            </a:r>
          </a:p>
          <a:p>
            <a:pPr marL="342900" indent="-171450">
              <a:buChar char="•"/>
            </a:pPr>
            <a:r>
              <a:rPr lang="vi-VN" sz="2000">
                <a:solidFill>
                  <a:srgbClr val="111827"/>
                </a:solidFill>
              </a:rPr>
              <a:t>Ứng dụng demo bằng Streamlit.</a:t>
            </a:r>
          </a:p>
        </p:txBody>
      </p:sp>
      <p:sp>
        <p:nvSpPr>
          <p:cNvPr id="24" name="Shape 24"/>
          <p:cNvSpPr/>
          <p:nvPr/>
        </p:nvSpPr>
        <p:spPr>
          <a:xfrm>
            <a:off x="6583680" y="2743200"/>
            <a:ext cx="4754880" cy="2148840"/>
          </a:xfrm>
          <a:prstGeom prst="roundRect">
            <a:avLst/>
          </a:prstGeom>
          <a:solidFill>
            <a:srgbClr val="F8FAFC"/>
          </a:solidFill>
          <a:ln w="12700">
            <a:solidFill>
              <a:srgbClr val="CBD5E1"/>
            </a:solidFill>
          </a:ln>
        </p:spPr>
      </p:sp>
      <p:sp>
        <p:nvSpPr>
          <p:cNvPr id="25" name="TextBox 25"/>
          <p:cNvSpPr txBox="1"/>
          <p:nvPr/>
        </p:nvSpPr>
        <p:spPr>
          <a:xfrm>
            <a:off x="6903720" y="2971800"/>
            <a:ext cx="4160520" cy="320040"/>
          </a:xfrm>
          <a:prstGeom prst="rect">
            <a:avLst/>
          </a:prstGeom>
          <a:noFill/>
          <a:ln>
            <a:noFill/>
          </a:ln>
        </p:spPr>
        <p:txBody>
          <a:bodyPr wrap="square" lIns="91440" tIns="45720" rIns="91440" bIns="45720"/>
          <a:lstStyle/>
          <a:p>
            <a:r>
              <a:rPr lang="vi-VN" sz="2100" b="1">
                <a:solidFill>
                  <a:srgbClr val="111827"/>
                </a:solidFill>
              </a:rPr>
              <a:t>Giới hạn quan trọng</a:t>
            </a:r>
          </a:p>
        </p:txBody>
      </p:sp>
      <p:sp>
        <p:nvSpPr>
          <p:cNvPr id="26" name="Bullets 26"/>
          <p:cNvSpPr txBox="1"/>
          <p:nvPr/>
        </p:nvSpPr>
        <p:spPr>
          <a:xfrm>
            <a:off x="6903720" y="3429000"/>
            <a:ext cx="3977640" cy="1143000"/>
          </a:xfrm>
          <a:prstGeom prst="rect">
            <a:avLst/>
          </a:prstGeom>
          <a:noFill/>
          <a:ln>
            <a:noFill/>
          </a:ln>
        </p:spPr>
        <p:txBody>
          <a:bodyPr wrap="square" lIns="0" tIns="0" rIns="0" bIns="0"/>
          <a:lstStyle/>
          <a:p>
            <a:pPr marL="342900" indent="-171450">
              <a:buChar char="•"/>
            </a:pPr>
            <a:r>
              <a:rPr lang="vi-VN" sz="1700">
                <a:solidFill>
                  <a:srgbClr val="111827"/>
                </a:solidFill>
              </a:rPr>
              <a:t>Chưa có ground truth cho final price after damage.</a:t>
            </a:r>
          </a:p>
          <a:p>
            <a:pPr marL="342900" indent="-171450">
              <a:buChar char="•"/>
            </a:pPr>
            <a:r>
              <a:rPr lang="vi-VN" sz="1700">
                <a:solidFill>
                  <a:srgbClr val="111827"/>
                </a:solidFill>
              </a:rPr>
              <a:t>Adjusted price là damage-aware rule-based adjustment.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Kiến trúc tổng thể hệ thống</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Pipeline có hai nhánh chính: dữ liệu bảng và dữ liệu ảnh.</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594360" y="1234440"/>
            <a:ext cx="2011680" cy="822960"/>
          </a:xfrm>
          <a:prstGeom prst="roundRect">
            <a:avLst/>
          </a:prstGeom>
          <a:solidFill>
            <a:srgbClr val="DBEAFE"/>
          </a:solidFill>
          <a:ln w="12700">
            <a:solidFill>
              <a:srgbClr val="93C5FD"/>
            </a:solidFill>
          </a:ln>
        </p:spPr>
      </p:sp>
      <p:sp>
        <p:nvSpPr>
          <p:cNvPr id="8" name="TextBox 8"/>
          <p:cNvSpPr txBox="1"/>
          <p:nvPr/>
        </p:nvSpPr>
        <p:spPr>
          <a:xfrm>
            <a:off x="667512" y="1399032"/>
            <a:ext cx="1865376" cy="457200"/>
          </a:xfrm>
          <a:prstGeom prst="rect">
            <a:avLst/>
          </a:prstGeom>
          <a:noFill/>
          <a:ln>
            <a:noFill/>
          </a:ln>
        </p:spPr>
        <p:txBody>
          <a:bodyPr wrap="square" lIns="91440" tIns="45720" rIns="91440" bIns="45720"/>
          <a:lstStyle/>
          <a:p>
            <a:pPr algn="ctr"/>
            <a:r>
              <a:rPr lang="vi-VN" sz="1500" b="1">
                <a:solidFill>
                  <a:srgbClr val="111827"/>
                </a:solidFill>
              </a:rPr>
              <a:t>User input</a:t>
            </a:r>
          </a:p>
        </p:txBody>
      </p:sp>
      <p:sp>
        <p:nvSpPr>
          <p:cNvPr id="9" name="Shape 9"/>
          <p:cNvSpPr/>
          <p:nvPr/>
        </p:nvSpPr>
        <p:spPr>
          <a:xfrm>
            <a:off x="2971800" y="1234440"/>
            <a:ext cx="2011680" cy="822960"/>
          </a:xfrm>
          <a:prstGeom prst="roundRect">
            <a:avLst/>
          </a:prstGeom>
          <a:solidFill>
            <a:srgbClr val="DBEAFE"/>
          </a:solidFill>
          <a:ln w="12700">
            <a:solidFill>
              <a:srgbClr val="93C5FD"/>
            </a:solidFill>
          </a:ln>
        </p:spPr>
      </p:sp>
      <p:sp>
        <p:nvSpPr>
          <p:cNvPr id="10" name="TextBox 10"/>
          <p:cNvSpPr txBox="1"/>
          <p:nvPr/>
        </p:nvSpPr>
        <p:spPr>
          <a:xfrm>
            <a:off x="3044952" y="1399032"/>
            <a:ext cx="1865376" cy="457200"/>
          </a:xfrm>
          <a:prstGeom prst="rect">
            <a:avLst/>
          </a:prstGeom>
          <a:noFill/>
          <a:ln>
            <a:noFill/>
          </a:ln>
        </p:spPr>
        <p:txBody>
          <a:bodyPr wrap="square" lIns="91440" tIns="45720" rIns="91440" bIns="45720"/>
          <a:lstStyle/>
          <a:p>
            <a:pPr algn="ctr"/>
            <a:r>
              <a:rPr lang="vi-VN" sz="1500" b="1">
                <a:solidFill>
                  <a:srgbClr val="111827"/>
                </a:solidFill>
              </a:rPr>
              <a:t>Tabular data</a:t>
            </a:r>
          </a:p>
        </p:txBody>
      </p:sp>
      <p:sp>
        <p:nvSpPr>
          <p:cNvPr id="11" name="Shape 11"/>
          <p:cNvSpPr/>
          <p:nvPr/>
        </p:nvSpPr>
        <p:spPr>
          <a:xfrm>
            <a:off x="5349240" y="1234440"/>
            <a:ext cx="2011680" cy="822960"/>
          </a:xfrm>
          <a:prstGeom prst="roundRect">
            <a:avLst/>
          </a:prstGeom>
          <a:solidFill>
            <a:srgbClr val="DBEAFE"/>
          </a:solidFill>
          <a:ln w="12700">
            <a:solidFill>
              <a:srgbClr val="93C5FD"/>
            </a:solidFill>
          </a:ln>
        </p:spPr>
      </p:sp>
      <p:sp>
        <p:nvSpPr>
          <p:cNvPr id="12" name="TextBox 12"/>
          <p:cNvSpPr txBox="1"/>
          <p:nvPr/>
        </p:nvSpPr>
        <p:spPr>
          <a:xfrm>
            <a:off x="5422392" y="1399032"/>
            <a:ext cx="1865376" cy="457200"/>
          </a:xfrm>
          <a:prstGeom prst="rect">
            <a:avLst/>
          </a:prstGeom>
          <a:noFill/>
          <a:ln>
            <a:noFill/>
          </a:ln>
        </p:spPr>
        <p:txBody>
          <a:bodyPr wrap="square" lIns="91440" tIns="45720" rIns="91440" bIns="45720"/>
          <a:lstStyle/>
          <a:p>
            <a:pPr algn="ctr"/>
            <a:r>
              <a:rPr lang="vi-VN" sz="1500" b="1">
                <a:solidFill>
                  <a:srgbClr val="111827"/>
                </a:solidFill>
              </a:rPr>
              <a:t>XGBoost</a:t>
            </a:r>
          </a:p>
          <a:p>
            <a:pPr algn="ctr"/>
            <a:r>
              <a:rPr lang="vi-VN" sz="1500" b="1">
                <a:solidFill>
                  <a:srgbClr val="111827"/>
                </a:solidFill>
              </a:rPr>
              <a:t>base price</a:t>
            </a:r>
          </a:p>
        </p:txBody>
      </p:sp>
      <p:sp>
        <p:nvSpPr>
          <p:cNvPr id="13" name="Shape 13"/>
          <p:cNvSpPr/>
          <p:nvPr/>
        </p:nvSpPr>
        <p:spPr>
          <a:xfrm>
            <a:off x="7726680" y="1234440"/>
            <a:ext cx="2011680" cy="822960"/>
          </a:xfrm>
          <a:prstGeom prst="roundRect">
            <a:avLst/>
          </a:prstGeom>
          <a:solidFill>
            <a:srgbClr val="DCFCE7"/>
          </a:solidFill>
          <a:ln w="12700">
            <a:solidFill>
              <a:srgbClr val="86EFAC"/>
            </a:solidFill>
          </a:ln>
        </p:spPr>
      </p:sp>
      <p:sp>
        <p:nvSpPr>
          <p:cNvPr id="14" name="TextBox 14"/>
          <p:cNvSpPr txBox="1"/>
          <p:nvPr/>
        </p:nvSpPr>
        <p:spPr>
          <a:xfrm>
            <a:off x="7799832" y="1399032"/>
            <a:ext cx="1865376" cy="457200"/>
          </a:xfrm>
          <a:prstGeom prst="rect">
            <a:avLst/>
          </a:prstGeom>
          <a:noFill/>
          <a:ln>
            <a:noFill/>
          </a:ln>
        </p:spPr>
        <p:txBody>
          <a:bodyPr wrap="square" lIns="91440" tIns="45720" rIns="91440" bIns="45720"/>
          <a:lstStyle/>
          <a:p>
            <a:pPr algn="ctr"/>
            <a:r>
              <a:rPr lang="vi-VN" sz="1500" b="1">
                <a:solidFill>
                  <a:srgbClr val="111827"/>
                </a:solidFill>
              </a:rPr>
              <a:t>Rule-based</a:t>
            </a:r>
          </a:p>
          <a:p>
            <a:pPr algn="ctr"/>
            <a:r>
              <a:rPr lang="vi-VN" sz="1500" b="1">
                <a:solidFill>
                  <a:srgbClr val="111827"/>
                </a:solidFill>
              </a:rPr>
              <a:t>adjustment</a:t>
            </a:r>
          </a:p>
        </p:txBody>
      </p:sp>
      <p:sp>
        <p:nvSpPr>
          <p:cNvPr id="15" name="Shape 15"/>
          <p:cNvSpPr/>
          <p:nvPr/>
        </p:nvSpPr>
        <p:spPr>
          <a:xfrm>
            <a:off x="10104120" y="1234440"/>
            <a:ext cx="1600200" cy="822960"/>
          </a:xfrm>
          <a:prstGeom prst="roundRect">
            <a:avLst/>
          </a:prstGeom>
          <a:solidFill>
            <a:srgbClr val="DCFCE7"/>
          </a:solidFill>
          <a:ln w="12700">
            <a:solidFill>
              <a:srgbClr val="86EFAC"/>
            </a:solidFill>
          </a:ln>
        </p:spPr>
      </p:sp>
      <p:sp>
        <p:nvSpPr>
          <p:cNvPr id="16" name="TextBox 16"/>
          <p:cNvSpPr txBox="1"/>
          <p:nvPr/>
        </p:nvSpPr>
        <p:spPr>
          <a:xfrm>
            <a:off x="10177272" y="1399032"/>
            <a:ext cx="1453896" cy="457200"/>
          </a:xfrm>
          <a:prstGeom prst="rect">
            <a:avLst/>
          </a:prstGeom>
          <a:noFill/>
          <a:ln>
            <a:noFill/>
          </a:ln>
        </p:spPr>
        <p:txBody>
          <a:bodyPr wrap="square" lIns="91440" tIns="45720" rIns="91440" bIns="45720"/>
          <a:lstStyle/>
          <a:p>
            <a:pPr algn="ctr"/>
            <a:r>
              <a:rPr lang="vi-VN" sz="1500" b="1">
                <a:solidFill>
                  <a:srgbClr val="111827"/>
                </a:solidFill>
              </a:rPr>
              <a:t>Final price</a:t>
            </a:r>
          </a:p>
        </p:txBody>
      </p:sp>
      <p:sp>
        <p:nvSpPr>
          <p:cNvPr id="17" name="Shape 17"/>
          <p:cNvSpPr/>
          <p:nvPr/>
        </p:nvSpPr>
        <p:spPr>
          <a:xfrm>
            <a:off x="2971800" y="2788920"/>
            <a:ext cx="2011680" cy="822960"/>
          </a:xfrm>
          <a:prstGeom prst="roundRect">
            <a:avLst/>
          </a:prstGeom>
          <a:solidFill>
            <a:srgbClr val="F3E8FF"/>
          </a:solidFill>
          <a:ln w="12700">
            <a:solidFill>
              <a:srgbClr val="C084FC"/>
            </a:solidFill>
          </a:ln>
        </p:spPr>
      </p:sp>
      <p:sp>
        <p:nvSpPr>
          <p:cNvPr id="18" name="TextBox 18"/>
          <p:cNvSpPr txBox="1"/>
          <p:nvPr/>
        </p:nvSpPr>
        <p:spPr>
          <a:xfrm>
            <a:off x="3044952" y="2953512"/>
            <a:ext cx="1865376" cy="457200"/>
          </a:xfrm>
          <a:prstGeom prst="rect">
            <a:avLst/>
          </a:prstGeom>
          <a:noFill/>
          <a:ln>
            <a:noFill/>
          </a:ln>
        </p:spPr>
        <p:txBody>
          <a:bodyPr wrap="square" lIns="91440" tIns="45720" rIns="91440" bIns="45720"/>
          <a:lstStyle/>
          <a:p>
            <a:pPr algn="ctr"/>
            <a:r>
              <a:rPr lang="vi-VN" sz="1500" b="1">
                <a:solidFill>
                  <a:srgbClr val="111827"/>
                </a:solidFill>
              </a:rPr>
              <a:t>Image optional</a:t>
            </a:r>
          </a:p>
        </p:txBody>
      </p:sp>
      <p:sp>
        <p:nvSpPr>
          <p:cNvPr id="19" name="Shape 19"/>
          <p:cNvSpPr/>
          <p:nvPr/>
        </p:nvSpPr>
        <p:spPr>
          <a:xfrm>
            <a:off x="5349240" y="2331720"/>
            <a:ext cx="2011680" cy="822960"/>
          </a:xfrm>
          <a:prstGeom prst="roundRect">
            <a:avLst/>
          </a:prstGeom>
          <a:solidFill>
            <a:srgbClr val="FEE2E2"/>
          </a:solidFill>
          <a:ln w="12700">
            <a:solidFill>
              <a:srgbClr val="FCA5A5"/>
            </a:solidFill>
          </a:ln>
        </p:spPr>
      </p:sp>
      <p:sp>
        <p:nvSpPr>
          <p:cNvPr id="20" name="TextBox 20"/>
          <p:cNvSpPr txBox="1"/>
          <p:nvPr/>
        </p:nvSpPr>
        <p:spPr>
          <a:xfrm>
            <a:off x="5422392" y="2496312"/>
            <a:ext cx="1865376" cy="457200"/>
          </a:xfrm>
          <a:prstGeom prst="rect">
            <a:avLst/>
          </a:prstGeom>
          <a:noFill/>
          <a:ln>
            <a:noFill/>
          </a:ln>
        </p:spPr>
        <p:txBody>
          <a:bodyPr wrap="square" lIns="91440" tIns="45720" rIns="91440" bIns="45720"/>
          <a:lstStyle/>
          <a:p>
            <a:pPr algn="ctr"/>
            <a:r>
              <a:rPr lang="vi-VN" sz="1500" b="1">
                <a:solidFill>
                  <a:srgbClr val="111827"/>
                </a:solidFill>
              </a:rPr>
              <a:t>YOLOv8s</a:t>
            </a:r>
          </a:p>
          <a:p>
            <a:pPr algn="ctr"/>
            <a:r>
              <a:rPr lang="vi-VN" sz="1500" b="1">
                <a:solidFill>
                  <a:srgbClr val="111827"/>
                </a:solidFill>
              </a:rPr>
              <a:t>bbox + damage</a:t>
            </a:r>
          </a:p>
        </p:txBody>
      </p:sp>
      <p:sp>
        <p:nvSpPr>
          <p:cNvPr id="21" name="Shape 21"/>
          <p:cNvSpPr/>
          <p:nvPr/>
        </p:nvSpPr>
        <p:spPr>
          <a:xfrm>
            <a:off x="5349240" y="3520440"/>
            <a:ext cx="2011680" cy="822960"/>
          </a:xfrm>
          <a:prstGeom prst="roundRect">
            <a:avLst/>
          </a:prstGeom>
          <a:solidFill>
            <a:srgbClr val="F3E8FF"/>
          </a:solidFill>
          <a:ln w="12700">
            <a:solidFill>
              <a:srgbClr val="C084FC"/>
            </a:solidFill>
          </a:ln>
        </p:spPr>
      </p:sp>
      <p:sp>
        <p:nvSpPr>
          <p:cNvPr id="22" name="TextBox 22"/>
          <p:cNvSpPr txBox="1"/>
          <p:nvPr/>
        </p:nvSpPr>
        <p:spPr>
          <a:xfrm>
            <a:off x="5422392" y="3685032"/>
            <a:ext cx="1865376" cy="457200"/>
          </a:xfrm>
          <a:prstGeom prst="rect">
            <a:avLst/>
          </a:prstGeom>
          <a:noFill/>
          <a:ln>
            <a:noFill/>
          </a:ln>
        </p:spPr>
        <p:txBody>
          <a:bodyPr wrap="square" lIns="91440" tIns="45720" rIns="91440" bIns="45720"/>
          <a:lstStyle/>
          <a:p>
            <a:pPr algn="ctr"/>
            <a:r>
              <a:rPr lang="vi-VN" sz="1500" b="1">
                <a:solidFill>
                  <a:srgbClr val="111827"/>
                </a:solidFill>
              </a:rPr>
              <a:t>ConvNeXt-Tiny</a:t>
            </a:r>
          </a:p>
          <a:p>
            <a:pPr algn="ctr"/>
            <a:r>
              <a:rPr lang="vi-VN" sz="1500" b="1">
                <a:solidFill>
                  <a:srgbClr val="111827"/>
                </a:solidFill>
              </a:rPr>
              <a:t>severity</a:t>
            </a:r>
          </a:p>
        </p:txBody>
      </p:sp>
      <p:sp>
        <p:nvSpPr>
          <p:cNvPr id="23" name="Shape 23"/>
          <p:cNvSpPr/>
          <p:nvPr/>
        </p:nvSpPr>
        <p:spPr>
          <a:xfrm>
            <a:off x="2606040" y="1618488"/>
            <a:ext cx="365760" cy="45720"/>
          </a:xfrm>
          <a:prstGeom prst="rect">
            <a:avLst/>
          </a:prstGeom>
          <a:solidFill>
            <a:srgbClr val="64748B"/>
          </a:solidFill>
          <a:ln>
            <a:noFill/>
          </a:ln>
        </p:spPr>
      </p:sp>
      <p:sp>
        <p:nvSpPr>
          <p:cNvPr id="24" name="Shape 24"/>
          <p:cNvSpPr/>
          <p:nvPr/>
        </p:nvSpPr>
        <p:spPr>
          <a:xfrm>
            <a:off x="4983480" y="1618488"/>
            <a:ext cx="365760" cy="45720"/>
          </a:xfrm>
          <a:prstGeom prst="rect">
            <a:avLst/>
          </a:prstGeom>
          <a:solidFill>
            <a:srgbClr val="64748B"/>
          </a:solidFill>
          <a:ln>
            <a:noFill/>
          </a:ln>
        </p:spPr>
      </p:sp>
      <p:sp>
        <p:nvSpPr>
          <p:cNvPr id="25" name="Shape 25"/>
          <p:cNvSpPr/>
          <p:nvPr/>
        </p:nvSpPr>
        <p:spPr>
          <a:xfrm>
            <a:off x="7360920" y="1618488"/>
            <a:ext cx="365760" cy="45720"/>
          </a:xfrm>
          <a:prstGeom prst="rect">
            <a:avLst/>
          </a:prstGeom>
          <a:solidFill>
            <a:srgbClr val="64748B"/>
          </a:solidFill>
          <a:ln>
            <a:noFill/>
          </a:ln>
        </p:spPr>
      </p:sp>
      <p:sp>
        <p:nvSpPr>
          <p:cNvPr id="26" name="Shape 26"/>
          <p:cNvSpPr/>
          <p:nvPr/>
        </p:nvSpPr>
        <p:spPr>
          <a:xfrm>
            <a:off x="9738360" y="1618488"/>
            <a:ext cx="365760" cy="45720"/>
          </a:xfrm>
          <a:prstGeom prst="rect">
            <a:avLst/>
          </a:prstGeom>
          <a:solidFill>
            <a:srgbClr val="64748B"/>
          </a:solidFill>
          <a:ln>
            <a:noFill/>
          </a:ln>
        </p:spPr>
      </p:sp>
      <p:sp>
        <p:nvSpPr>
          <p:cNvPr id="27" name="Shape 27"/>
          <p:cNvSpPr/>
          <p:nvPr/>
        </p:nvSpPr>
        <p:spPr>
          <a:xfrm>
            <a:off x="2606040" y="3172968"/>
            <a:ext cx="365760" cy="45720"/>
          </a:xfrm>
          <a:prstGeom prst="rect">
            <a:avLst/>
          </a:prstGeom>
          <a:solidFill>
            <a:srgbClr val="64748B"/>
          </a:solidFill>
          <a:ln>
            <a:noFill/>
          </a:ln>
        </p:spPr>
      </p:sp>
      <p:sp>
        <p:nvSpPr>
          <p:cNvPr id="28" name="Shape 28"/>
          <p:cNvSpPr/>
          <p:nvPr/>
        </p:nvSpPr>
        <p:spPr>
          <a:xfrm>
            <a:off x="7360920" y="2743200"/>
            <a:ext cx="365760" cy="45720"/>
          </a:xfrm>
          <a:prstGeom prst="rect">
            <a:avLst/>
          </a:prstGeom>
          <a:solidFill>
            <a:srgbClr val="64748B"/>
          </a:solidFill>
          <a:ln>
            <a:noFill/>
          </a:ln>
        </p:spPr>
      </p:sp>
      <p:sp>
        <p:nvSpPr>
          <p:cNvPr id="29" name="Shape 29"/>
          <p:cNvSpPr/>
          <p:nvPr/>
        </p:nvSpPr>
        <p:spPr>
          <a:xfrm>
            <a:off x="7360920" y="3931920"/>
            <a:ext cx="365760" cy="45720"/>
          </a:xfrm>
          <a:prstGeom prst="rect">
            <a:avLst/>
          </a:prstGeom>
          <a:solidFill>
            <a:srgbClr val="64748B"/>
          </a:solidFill>
          <a:ln>
            <a:noFill/>
          </a:ln>
        </p:spPr>
      </p:sp>
      <p:sp>
        <p:nvSpPr>
          <p:cNvPr id="30" name="Bullets 30"/>
          <p:cNvSpPr txBox="1"/>
          <p:nvPr/>
        </p:nvSpPr>
        <p:spPr>
          <a:xfrm>
            <a:off x="731520" y="4846320"/>
            <a:ext cx="10789920" cy="914400"/>
          </a:xfrm>
          <a:prstGeom prst="rect">
            <a:avLst/>
          </a:prstGeom>
          <a:noFill/>
          <a:ln>
            <a:noFill/>
          </a:ln>
        </p:spPr>
        <p:txBody>
          <a:bodyPr wrap="square" lIns="0" tIns="0" rIns="0" bIns="0"/>
          <a:lstStyle/>
          <a:p>
            <a:pPr marL="342900" indent="-171450">
              <a:buChar char="•"/>
            </a:pPr>
            <a:r>
              <a:rPr lang="vi-VN" sz="1800">
                <a:solidFill>
                  <a:srgbClr val="111827"/>
                </a:solidFill>
              </a:rPr>
              <a:t>Nếu không upload ảnh: hệ thống bỏ qua YOLO/CNN và final price = base price.</a:t>
            </a:r>
          </a:p>
          <a:p>
            <a:pPr marL="342900" indent="-171450">
              <a:buChar char="•"/>
            </a:pPr>
            <a:r>
              <a:rPr lang="vi-VN" sz="1800">
                <a:solidFill>
                  <a:srgbClr val="111827"/>
                </a:solidFill>
              </a:rPr>
              <a:t>Nếu có ảnh: YOLO và CNN chạy song song, sau đó rule-based layer tính mức giảm giá.</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Dữ liệu sử dụng</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Dự án dùng thiết kế dữ liệu mô-đun thay vì một dataset multimodal đồng bộ hoàn toàn.</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640080" y="1325880"/>
            <a:ext cx="1645920" cy="566928"/>
          </a:xfrm>
          <a:prstGeom prst="rect">
            <a:avLst/>
          </a:prstGeom>
          <a:solidFill>
            <a:srgbClr val="F1F5F9"/>
          </a:solidFill>
          <a:ln w="12700">
            <a:solidFill>
              <a:srgbClr val="E2E8F0"/>
            </a:solidFill>
          </a:ln>
        </p:spPr>
      </p:sp>
      <p:sp>
        <p:nvSpPr>
          <p:cNvPr id="8" name="TextBox 8"/>
          <p:cNvSpPr txBox="1"/>
          <p:nvPr/>
        </p:nvSpPr>
        <p:spPr>
          <a:xfrm>
            <a:off x="676656" y="1389888"/>
            <a:ext cx="1572768" cy="493776"/>
          </a:xfrm>
          <a:prstGeom prst="rect">
            <a:avLst/>
          </a:prstGeom>
          <a:noFill/>
          <a:ln>
            <a:noFill/>
          </a:ln>
        </p:spPr>
        <p:txBody>
          <a:bodyPr wrap="square" lIns="91440" tIns="45720" rIns="91440" bIns="45720"/>
          <a:lstStyle/>
          <a:p>
            <a:r>
              <a:rPr lang="vi-VN" sz="1100" b="1">
                <a:solidFill>
                  <a:srgbClr val="0F172A"/>
                </a:solidFill>
              </a:rPr>
              <a:t>Nhánh</a:t>
            </a:r>
          </a:p>
        </p:txBody>
      </p:sp>
      <p:sp>
        <p:nvSpPr>
          <p:cNvPr id="9" name="Shape 9"/>
          <p:cNvSpPr/>
          <p:nvPr/>
        </p:nvSpPr>
        <p:spPr>
          <a:xfrm>
            <a:off x="2286000" y="1325880"/>
            <a:ext cx="4206240" cy="566928"/>
          </a:xfrm>
          <a:prstGeom prst="rect">
            <a:avLst/>
          </a:prstGeom>
          <a:solidFill>
            <a:srgbClr val="F1F5F9"/>
          </a:solidFill>
          <a:ln w="12700">
            <a:solidFill>
              <a:srgbClr val="E2E8F0"/>
            </a:solidFill>
          </a:ln>
        </p:spPr>
      </p:sp>
      <p:sp>
        <p:nvSpPr>
          <p:cNvPr id="10" name="TextBox 10"/>
          <p:cNvSpPr txBox="1"/>
          <p:nvPr/>
        </p:nvSpPr>
        <p:spPr>
          <a:xfrm>
            <a:off x="2322576" y="1389888"/>
            <a:ext cx="4133088" cy="493776"/>
          </a:xfrm>
          <a:prstGeom prst="rect">
            <a:avLst/>
          </a:prstGeom>
          <a:noFill/>
          <a:ln>
            <a:noFill/>
          </a:ln>
        </p:spPr>
        <p:txBody>
          <a:bodyPr wrap="square" lIns="91440" tIns="45720" rIns="91440" bIns="45720"/>
          <a:lstStyle/>
          <a:p>
            <a:r>
              <a:rPr lang="vi-VN" sz="1100" b="1">
                <a:solidFill>
                  <a:srgbClr val="0F172A"/>
                </a:solidFill>
              </a:rPr>
              <a:t>Nguồn</a:t>
            </a:r>
          </a:p>
        </p:txBody>
      </p:sp>
      <p:sp>
        <p:nvSpPr>
          <p:cNvPr id="11" name="Shape 11"/>
          <p:cNvSpPr/>
          <p:nvPr/>
        </p:nvSpPr>
        <p:spPr>
          <a:xfrm>
            <a:off x="6492240" y="1325880"/>
            <a:ext cx="5029200" cy="566928"/>
          </a:xfrm>
          <a:prstGeom prst="rect">
            <a:avLst/>
          </a:prstGeom>
          <a:solidFill>
            <a:srgbClr val="F1F5F9"/>
          </a:solidFill>
          <a:ln w="12700">
            <a:solidFill>
              <a:srgbClr val="E2E8F0"/>
            </a:solidFill>
          </a:ln>
        </p:spPr>
      </p:sp>
      <p:sp>
        <p:nvSpPr>
          <p:cNvPr id="12" name="TextBox 12"/>
          <p:cNvSpPr txBox="1"/>
          <p:nvPr/>
        </p:nvSpPr>
        <p:spPr>
          <a:xfrm>
            <a:off x="6528816" y="1389888"/>
            <a:ext cx="4956048" cy="493776"/>
          </a:xfrm>
          <a:prstGeom prst="rect">
            <a:avLst/>
          </a:prstGeom>
          <a:noFill/>
          <a:ln>
            <a:noFill/>
          </a:ln>
        </p:spPr>
        <p:txBody>
          <a:bodyPr wrap="square" lIns="91440" tIns="45720" rIns="91440" bIns="45720"/>
          <a:lstStyle/>
          <a:p>
            <a:r>
              <a:rPr lang="vi-VN" sz="1100" b="1">
                <a:solidFill>
                  <a:srgbClr val="0F172A"/>
                </a:solidFill>
              </a:rPr>
              <a:t>Vai trò</a:t>
            </a:r>
          </a:p>
        </p:txBody>
      </p:sp>
      <p:sp>
        <p:nvSpPr>
          <p:cNvPr id="13" name="Shape 13"/>
          <p:cNvSpPr/>
          <p:nvPr/>
        </p:nvSpPr>
        <p:spPr>
          <a:xfrm>
            <a:off x="640080" y="1892808"/>
            <a:ext cx="1645920" cy="566928"/>
          </a:xfrm>
          <a:prstGeom prst="rect">
            <a:avLst/>
          </a:prstGeom>
          <a:solidFill>
            <a:srgbClr val="FFFFFF"/>
          </a:solidFill>
          <a:ln w="12700">
            <a:solidFill>
              <a:srgbClr val="E2E8F0"/>
            </a:solidFill>
          </a:ln>
        </p:spPr>
      </p:sp>
      <p:sp>
        <p:nvSpPr>
          <p:cNvPr id="14" name="TextBox 14"/>
          <p:cNvSpPr txBox="1"/>
          <p:nvPr/>
        </p:nvSpPr>
        <p:spPr>
          <a:xfrm>
            <a:off x="676656" y="1956816"/>
            <a:ext cx="1572768" cy="493776"/>
          </a:xfrm>
          <a:prstGeom prst="rect">
            <a:avLst/>
          </a:prstGeom>
          <a:noFill/>
          <a:ln>
            <a:noFill/>
          </a:ln>
        </p:spPr>
        <p:txBody>
          <a:bodyPr wrap="square" lIns="91440" tIns="45720" rIns="91440" bIns="45720"/>
          <a:lstStyle/>
          <a:p>
            <a:r>
              <a:rPr lang="vi-VN" sz="1000">
                <a:solidFill>
                  <a:srgbClr val="0F172A"/>
                </a:solidFill>
              </a:rPr>
              <a:t>Tabular</a:t>
            </a:r>
          </a:p>
        </p:txBody>
      </p:sp>
      <p:sp>
        <p:nvSpPr>
          <p:cNvPr id="15" name="Shape 15"/>
          <p:cNvSpPr/>
          <p:nvPr/>
        </p:nvSpPr>
        <p:spPr>
          <a:xfrm>
            <a:off x="2286000" y="1892808"/>
            <a:ext cx="4206240" cy="566928"/>
          </a:xfrm>
          <a:prstGeom prst="rect">
            <a:avLst/>
          </a:prstGeom>
          <a:solidFill>
            <a:srgbClr val="FFFFFF"/>
          </a:solidFill>
          <a:ln w="12700">
            <a:solidFill>
              <a:srgbClr val="E2E8F0"/>
            </a:solidFill>
          </a:ln>
        </p:spPr>
      </p:sp>
      <p:sp>
        <p:nvSpPr>
          <p:cNvPr id="16" name="TextBox 16"/>
          <p:cNvSpPr txBox="1"/>
          <p:nvPr/>
        </p:nvSpPr>
        <p:spPr>
          <a:xfrm>
            <a:off x="2322576" y="1956816"/>
            <a:ext cx="4133088" cy="493776"/>
          </a:xfrm>
          <a:prstGeom prst="rect">
            <a:avLst/>
          </a:prstGeom>
          <a:noFill/>
          <a:ln>
            <a:noFill/>
          </a:ln>
        </p:spPr>
        <p:txBody>
          <a:bodyPr wrap="square" lIns="91440" tIns="45720" rIns="91440" bIns="45720"/>
          <a:lstStyle/>
          <a:p>
            <a:r>
              <a:rPr lang="vi-VN" sz="1000">
                <a:solidFill>
                  <a:srgbClr val="0F172A"/>
                </a:solidFill>
              </a:rPr>
              <a:t>Kaggle used-cars-price-prediction</a:t>
            </a:r>
          </a:p>
        </p:txBody>
      </p:sp>
      <p:sp>
        <p:nvSpPr>
          <p:cNvPr id="17" name="Shape 17"/>
          <p:cNvSpPr/>
          <p:nvPr/>
        </p:nvSpPr>
        <p:spPr>
          <a:xfrm>
            <a:off x="6492240" y="1892808"/>
            <a:ext cx="5029200" cy="566928"/>
          </a:xfrm>
          <a:prstGeom prst="rect">
            <a:avLst/>
          </a:prstGeom>
          <a:solidFill>
            <a:srgbClr val="FFFFFF"/>
          </a:solidFill>
          <a:ln w="12700">
            <a:solidFill>
              <a:srgbClr val="E2E8F0"/>
            </a:solidFill>
          </a:ln>
        </p:spPr>
      </p:sp>
      <p:sp>
        <p:nvSpPr>
          <p:cNvPr id="18" name="TextBox 18"/>
          <p:cNvSpPr txBox="1"/>
          <p:nvPr/>
        </p:nvSpPr>
        <p:spPr>
          <a:xfrm>
            <a:off x="6528816" y="1956816"/>
            <a:ext cx="4956048" cy="493776"/>
          </a:xfrm>
          <a:prstGeom prst="rect">
            <a:avLst/>
          </a:prstGeom>
          <a:noFill/>
          <a:ln>
            <a:noFill/>
          </a:ln>
        </p:spPr>
        <p:txBody>
          <a:bodyPr wrap="square" lIns="91440" tIns="45720" rIns="91440" bIns="45720"/>
          <a:lstStyle/>
          <a:p>
            <a:r>
              <a:rPr lang="vi-VN" sz="1000">
                <a:solidFill>
                  <a:srgbClr val="0F172A"/>
                </a:solidFill>
              </a:rPr>
              <a:t>Ground truth giá xe cũ để train XGBoost</a:t>
            </a:r>
          </a:p>
        </p:txBody>
      </p:sp>
      <p:sp>
        <p:nvSpPr>
          <p:cNvPr id="19" name="Shape 19"/>
          <p:cNvSpPr/>
          <p:nvPr/>
        </p:nvSpPr>
        <p:spPr>
          <a:xfrm>
            <a:off x="640080" y="2459736"/>
            <a:ext cx="1645920" cy="566928"/>
          </a:xfrm>
          <a:prstGeom prst="rect">
            <a:avLst/>
          </a:prstGeom>
          <a:solidFill>
            <a:srgbClr val="FFFFFF"/>
          </a:solidFill>
          <a:ln w="12700">
            <a:solidFill>
              <a:srgbClr val="E2E8F0"/>
            </a:solidFill>
          </a:ln>
        </p:spPr>
      </p:sp>
      <p:sp>
        <p:nvSpPr>
          <p:cNvPr id="20" name="TextBox 20"/>
          <p:cNvSpPr txBox="1"/>
          <p:nvPr/>
        </p:nvSpPr>
        <p:spPr>
          <a:xfrm>
            <a:off x="676656" y="2523744"/>
            <a:ext cx="1572768" cy="493776"/>
          </a:xfrm>
          <a:prstGeom prst="rect">
            <a:avLst/>
          </a:prstGeom>
          <a:noFill/>
          <a:ln>
            <a:noFill/>
          </a:ln>
        </p:spPr>
        <p:txBody>
          <a:bodyPr wrap="square" lIns="91440" tIns="45720" rIns="91440" bIns="45720"/>
          <a:lstStyle/>
          <a:p>
            <a:r>
              <a:rPr lang="vi-VN" sz="1000">
                <a:solidFill>
                  <a:srgbClr val="0F172A"/>
                </a:solidFill>
              </a:rPr>
              <a:t>YOLO</a:t>
            </a:r>
          </a:p>
        </p:txBody>
      </p:sp>
      <p:sp>
        <p:nvSpPr>
          <p:cNvPr id="21" name="Shape 21"/>
          <p:cNvSpPr/>
          <p:nvPr/>
        </p:nvSpPr>
        <p:spPr>
          <a:xfrm>
            <a:off x="2286000" y="2459736"/>
            <a:ext cx="4206240" cy="566928"/>
          </a:xfrm>
          <a:prstGeom prst="rect">
            <a:avLst/>
          </a:prstGeom>
          <a:solidFill>
            <a:srgbClr val="FFFFFF"/>
          </a:solidFill>
          <a:ln w="12700">
            <a:solidFill>
              <a:srgbClr val="E2E8F0"/>
            </a:solidFill>
          </a:ln>
        </p:spPr>
      </p:sp>
      <p:sp>
        <p:nvSpPr>
          <p:cNvPr id="22" name="TextBox 22"/>
          <p:cNvSpPr txBox="1"/>
          <p:nvPr/>
        </p:nvSpPr>
        <p:spPr>
          <a:xfrm>
            <a:off x="2322576" y="2523744"/>
            <a:ext cx="4133088" cy="493776"/>
          </a:xfrm>
          <a:prstGeom prst="rect">
            <a:avLst/>
          </a:prstGeom>
          <a:noFill/>
          <a:ln>
            <a:noFill/>
          </a:ln>
        </p:spPr>
        <p:txBody>
          <a:bodyPr wrap="square" lIns="91440" tIns="45720" rIns="91440" bIns="45720"/>
          <a:lstStyle/>
          <a:p>
            <a:r>
              <a:rPr lang="vi-VN" sz="1000">
                <a:solidFill>
                  <a:srgbClr val="0F172A"/>
                </a:solidFill>
              </a:rPr>
              <a:t>Kaggle CarDD_COCO + Roboflow Universe</a:t>
            </a:r>
          </a:p>
        </p:txBody>
      </p:sp>
      <p:sp>
        <p:nvSpPr>
          <p:cNvPr id="23" name="Shape 23"/>
          <p:cNvSpPr/>
          <p:nvPr/>
        </p:nvSpPr>
        <p:spPr>
          <a:xfrm>
            <a:off x="6492240" y="2459736"/>
            <a:ext cx="5029200" cy="566928"/>
          </a:xfrm>
          <a:prstGeom prst="rect">
            <a:avLst/>
          </a:prstGeom>
          <a:solidFill>
            <a:srgbClr val="FFFFFF"/>
          </a:solidFill>
          <a:ln w="12700">
            <a:solidFill>
              <a:srgbClr val="E2E8F0"/>
            </a:solidFill>
          </a:ln>
        </p:spPr>
      </p:sp>
      <p:sp>
        <p:nvSpPr>
          <p:cNvPr id="24" name="TextBox 24"/>
          <p:cNvSpPr txBox="1"/>
          <p:nvPr/>
        </p:nvSpPr>
        <p:spPr>
          <a:xfrm>
            <a:off x="6528816" y="2523744"/>
            <a:ext cx="4956048" cy="493776"/>
          </a:xfrm>
          <a:prstGeom prst="rect">
            <a:avLst/>
          </a:prstGeom>
          <a:noFill/>
          <a:ln>
            <a:noFill/>
          </a:ln>
        </p:spPr>
        <p:txBody>
          <a:bodyPr wrap="square" lIns="91440" tIns="45720" rIns="91440" bIns="45720"/>
          <a:lstStyle/>
          <a:p>
            <a:r>
              <a:rPr lang="vi-VN" sz="1000">
                <a:solidFill>
                  <a:srgbClr val="0F172A"/>
                </a:solidFill>
              </a:rPr>
              <a:t>Detect 6 lớp hư hỏng ngoại thất</a:t>
            </a:r>
          </a:p>
        </p:txBody>
      </p:sp>
      <p:sp>
        <p:nvSpPr>
          <p:cNvPr id="25" name="Shape 25"/>
          <p:cNvSpPr/>
          <p:nvPr/>
        </p:nvSpPr>
        <p:spPr>
          <a:xfrm>
            <a:off x="640080" y="3026664"/>
            <a:ext cx="1645920" cy="566928"/>
          </a:xfrm>
          <a:prstGeom prst="rect">
            <a:avLst/>
          </a:prstGeom>
          <a:solidFill>
            <a:srgbClr val="FFFFFF"/>
          </a:solidFill>
          <a:ln w="12700">
            <a:solidFill>
              <a:srgbClr val="E2E8F0"/>
            </a:solidFill>
          </a:ln>
        </p:spPr>
      </p:sp>
      <p:sp>
        <p:nvSpPr>
          <p:cNvPr id="26" name="TextBox 26"/>
          <p:cNvSpPr txBox="1"/>
          <p:nvPr/>
        </p:nvSpPr>
        <p:spPr>
          <a:xfrm>
            <a:off x="676656" y="3090672"/>
            <a:ext cx="1572768" cy="493776"/>
          </a:xfrm>
          <a:prstGeom prst="rect">
            <a:avLst/>
          </a:prstGeom>
          <a:noFill/>
          <a:ln>
            <a:noFill/>
          </a:ln>
        </p:spPr>
        <p:txBody>
          <a:bodyPr wrap="square" lIns="91440" tIns="45720" rIns="91440" bIns="45720"/>
          <a:lstStyle/>
          <a:p>
            <a:r>
              <a:rPr lang="vi-VN" sz="1000">
                <a:solidFill>
                  <a:srgbClr val="0F172A"/>
                </a:solidFill>
              </a:rPr>
              <a:t>CNN</a:t>
            </a:r>
          </a:p>
        </p:txBody>
      </p:sp>
      <p:sp>
        <p:nvSpPr>
          <p:cNvPr id="27" name="Shape 27"/>
          <p:cNvSpPr/>
          <p:nvPr/>
        </p:nvSpPr>
        <p:spPr>
          <a:xfrm>
            <a:off x="2286000" y="3026664"/>
            <a:ext cx="4206240" cy="566928"/>
          </a:xfrm>
          <a:prstGeom prst="rect">
            <a:avLst/>
          </a:prstGeom>
          <a:solidFill>
            <a:srgbClr val="FFFFFF"/>
          </a:solidFill>
          <a:ln w="12700">
            <a:solidFill>
              <a:srgbClr val="E2E8F0"/>
            </a:solidFill>
          </a:ln>
        </p:spPr>
      </p:sp>
      <p:sp>
        <p:nvSpPr>
          <p:cNvPr id="28" name="TextBox 28"/>
          <p:cNvSpPr txBox="1"/>
          <p:nvPr/>
        </p:nvSpPr>
        <p:spPr>
          <a:xfrm>
            <a:off x="2322576" y="3090672"/>
            <a:ext cx="4133088" cy="493776"/>
          </a:xfrm>
          <a:prstGeom prst="rect">
            <a:avLst/>
          </a:prstGeom>
          <a:noFill/>
          <a:ln>
            <a:noFill/>
          </a:ln>
        </p:spPr>
        <p:txBody>
          <a:bodyPr wrap="square" lIns="91440" tIns="45720" rIns="91440" bIns="45720"/>
          <a:lstStyle/>
          <a:p>
            <a:r>
              <a:rPr lang="vi-VN" sz="1000">
                <a:solidFill>
                  <a:srgbClr val="0F172A"/>
                </a:solidFill>
              </a:rPr>
              <a:t>Kaggle car-damage-detection</a:t>
            </a:r>
          </a:p>
        </p:txBody>
      </p:sp>
      <p:sp>
        <p:nvSpPr>
          <p:cNvPr id="29" name="Shape 29"/>
          <p:cNvSpPr/>
          <p:nvPr/>
        </p:nvSpPr>
        <p:spPr>
          <a:xfrm>
            <a:off x="6492240" y="3026664"/>
            <a:ext cx="5029200" cy="566928"/>
          </a:xfrm>
          <a:prstGeom prst="rect">
            <a:avLst/>
          </a:prstGeom>
          <a:solidFill>
            <a:srgbClr val="FFFFFF"/>
          </a:solidFill>
          <a:ln w="12700">
            <a:solidFill>
              <a:srgbClr val="E2E8F0"/>
            </a:solidFill>
          </a:ln>
        </p:spPr>
      </p:sp>
      <p:sp>
        <p:nvSpPr>
          <p:cNvPr id="30" name="TextBox 30"/>
          <p:cNvSpPr txBox="1"/>
          <p:nvPr/>
        </p:nvSpPr>
        <p:spPr>
          <a:xfrm>
            <a:off x="6528816" y="3090672"/>
            <a:ext cx="4956048" cy="493776"/>
          </a:xfrm>
          <a:prstGeom prst="rect">
            <a:avLst/>
          </a:prstGeom>
          <a:noFill/>
          <a:ln>
            <a:noFill/>
          </a:ln>
        </p:spPr>
        <p:txBody>
          <a:bodyPr wrap="square" lIns="91440" tIns="45720" rIns="91440" bIns="45720"/>
          <a:lstStyle/>
          <a:p>
            <a:r>
              <a:rPr lang="vi-VN" sz="1000">
                <a:solidFill>
                  <a:srgbClr val="0F172A"/>
                </a:solidFill>
              </a:rPr>
              <a:t>Phân loại ảnh full thành minor/moderate/severe</a:t>
            </a:r>
          </a:p>
        </p:txBody>
      </p:sp>
      <p:sp>
        <p:nvSpPr>
          <p:cNvPr id="31" name="Bullets 31"/>
          <p:cNvSpPr txBox="1"/>
          <p:nvPr/>
        </p:nvSpPr>
        <p:spPr>
          <a:xfrm>
            <a:off x="777240" y="3840480"/>
            <a:ext cx="10515600" cy="1463040"/>
          </a:xfrm>
          <a:prstGeom prst="rect">
            <a:avLst/>
          </a:prstGeom>
          <a:noFill/>
          <a:ln>
            <a:noFill/>
          </a:ln>
        </p:spPr>
        <p:txBody>
          <a:bodyPr wrap="square" lIns="0" tIns="0" rIns="0" bIns="0"/>
          <a:lstStyle/>
          <a:p>
            <a:pPr marL="342900" indent="-171450">
              <a:buChar char="•"/>
            </a:pPr>
            <a:r>
              <a:rPr lang="vi-VN" sz="1800">
                <a:solidFill>
                  <a:srgbClr val="111827"/>
                </a:solidFill>
              </a:rPr>
              <a:t>YOLO dataset gốc tải về dạng COCO, được upload lên Roboflow để export định dạng YOLOv8.</a:t>
            </a:r>
          </a:p>
          <a:p>
            <a:pPr marL="342900" indent="-171450">
              <a:buChar char="•"/>
            </a:pPr>
            <a:r>
              <a:rPr lang="vi-VN" sz="1800">
                <a:solidFill>
                  <a:srgbClr val="111827"/>
                </a:solidFill>
              </a:rPr>
              <a:t>merge_Data = khoảng 4000 ảnh gốc + 2307 ảnh bổ sung cho crack, scratch, dent.</a:t>
            </a:r>
          </a:p>
          <a:p>
            <a:pPr marL="342900" indent="-171450">
              <a:buChar char="•"/>
            </a:pPr>
            <a:r>
              <a:rPr lang="vi-VN" sz="1800">
                <a:solidFill>
                  <a:srgbClr val="111827"/>
                </a:solidFill>
              </a:rPr>
              <a:t>Dữ liệu ảnh và dữ liệu bảng không đồng bộ theo từng chiếc xe, nên hệ thống kết hợp ở mức pipeline.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Phân bố nhãn YOLO</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Số liệu từ Roboflow sau khi loại bỏ các lớp nhiễu a, e, f.</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685800" y="1234440"/>
            <a:ext cx="2468880" cy="429768"/>
          </a:xfrm>
          <a:prstGeom prst="rect">
            <a:avLst/>
          </a:prstGeom>
          <a:solidFill>
            <a:srgbClr val="F1F5F9"/>
          </a:solidFill>
          <a:ln w="12700">
            <a:solidFill>
              <a:srgbClr val="E2E8F0"/>
            </a:solidFill>
          </a:ln>
        </p:spPr>
      </p:sp>
      <p:sp>
        <p:nvSpPr>
          <p:cNvPr id="8" name="TextBox 8"/>
          <p:cNvSpPr txBox="1"/>
          <p:nvPr/>
        </p:nvSpPr>
        <p:spPr>
          <a:xfrm>
            <a:off x="722376" y="1298448"/>
            <a:ext cx="2395728" cy="356616"/>
          </a:xfrm>
          <a:prstGeom prst="rect">
            <a:avLst/>
          </a:prstGeom>
          <a:noFill/>
          <a:ln>
            <a:noFill/>
          </a:ln>
        </p:spPr>
        <p:txBody>
          <a:bodyPr wrap="square" lIns="91440" tIns="45720" rIns="91440" bIns="45720"/>
          <a:lstStyle/>
          <a:p>
            <a:r>
              <a:rPr lang="vi-VN" sz="1100" b="1">
                <a:solidFill>
                  <a:srgbClr val="0F172A"/>
                </a:solidFill>
              </a:rPr>
              <a:t>Nhãn</a:t>
            </a:r>
          </a:p>
        </p:txBody>
      </p:sp>
      <p:sp>
        <p:nvSpPr>
          <p:cNvPr id="9" name="Shape 9"/>
          <p:cNvSpPr/>
          <p:nvPr/>
        </p:nvSpPr>
        <p:spPr>
          <a:xfrm>
            <a:off x="3154680" y="1234440"/>
            <a:ext cx="1920240" cy="429768"/>
          </a:xfrm>
          <a:prstGeom prst="rect">
            <a:avLst/>
          </a:prstGeom>
          <a:solidFill>
            <a:srgbClr val="F1F5F9"/>
          </a:solidFill>
          <a:ln w="12700">
            <a:solidFill>
              <a:srgbClr val="E2E8F0"/>
            </a:solidFill>
          </a:ln>
        </p:spPr>
      </p:sp>
      <p:sp>
        <p:nvSpPr>
          <p:cNvPr id="10" name="TextBox 10"/>
          <p:cNvSpPr txBox="1"/>
          <p:nvPr/>
        </p:nvSpPr>
        <p:spPr>
          <a:xfrm>
            <a:off x="3191256" y="1298448"/>
            <a:ext cx="1847088" cy="356616"/>
          </a:xfrm>
          <a:prstGeom prst="rect">
            <a:avLst/>
          </a:prstGeom>
          <a:noFill/>
          <a:ln>
            <a:noFill/>
          </a:ln>
        </p:spPr>
        <p:txBody>
          <a:bodyPr wrap="square" lIns="91440" tIns="45720" rIns="91440" bIns="45720"/>
          <a:lstStyle/>
          <a:p>
            <a:r>
              <a:rPr lang="vi-VN" sz="1100" b="1">
                <a:solidFill>
                  <a:srgbClr val="0F172A"/>
                </a:solidFill>
              </a:rPr>
              <a:t>Bounding box</a:t>
            </a:r>
          </a:p>
        </p:txBody>
      </p:sp>
      <p:sp>
        <p:nvSpPr>
          <p:cNvPr id="11" name="Shape 11"/>
          <p:cNvSpPr/>
          <p:nvPr/>
        </p:nvSpPr>
        <p:spPr>
          <a:xfrm>
            <a:off x="5074920" y="1234440"/>
            <a:ext cx="1554480" cy="429768"/>
          </a:xfrm>
          <a:prstGeom prst="rect">
            <a:avLst/>
          </a:prstGeom>
          <a:solidFill>
            <a:srgbClr val="F1F5F9"/>
          </a:solidFill>
          <a:ln w="12700">
            <a:solidFill>
              <a:srgbClr val="E2E8F0"/>
            </a:solidFill>
          </a:ln>
        </p:spPr>
      </p:sp>
      <p:sp>
        <p:nvSpPr>
          <p:cNvPr id="12" name="TextBox 12"/>
          <p:cNvSpPr txBox="1"/>
          <p:nvPr/>
        </p:nvSpPr>
        <p:spPr>
          <a:xfrm>
            <a:off x="5111496" y="1298448"/>
            <a:ext cx="1481328" cy="356616"/>
          </a:xfrm>
          <a:prstGeom prst="rect">
            <a:avLst/>
          </a:prstGeom>
          <a:noFill/>
          <a:ln>
            <a:noFill/>
          </a:ln>
        </p:spPr>
        <p:txBody>
          <a:bodyPr wrap="square" lIns="91440" tIns="45720" rIns="91440" bIns="45720"/>
          <a:lstStyle/>
          <a:p>
            <a:r>
              <a:rPr lang="vi-VN" sz="1100" b="1">
                <a:solidFill>
                  <a:srgbClr val="0F172A"/>
                </a:solidFill>
              </a:rPr>
              <a:t>Tỷ lệ</a:t>
            </a:r>
          </a:p>
        </p:txBody>
      </p:sp>
      <p:sp>
        <p:nvSpPr>
          <p:cNvPr id="13" name="Shape 13"/>
          <p:cNvSpPr/>
          <p:nvPr/>
        </p:nvSpPr>
        <p:spPr>
          <a:xfrm>
            <a:off x="685800" y="1664208"/>
            <a:ext cx="2468880" cy="429768"/>
          </a:xfrm>
          <a:prstGeom prst="rect">
            <a:avLst/>
          </a:prstGeom>
          <a:solidFill>
            <a:srgbClr val="FFFFFF"/>
          </a:solidFill>
          <a:ln w="12700">
            <a:solidFill>
              <a:srgbClr val="E2E8F0"/>
            </a:solidFill>
          </a:ln>
        </p:spPr>
      </p:sp>
      <p:sp>
        <p:nvSpPr>
          <p:cNvPr id="14" name="TextBox 14"/>
          <p:cNvSpPr txBox="1"/>
          <p:nvPr/>
        </p:nvSpPr>
        <p:spPr>
          <a:xfrm>
            <a:off x="722376" y="1728216"/>
            <a:ext cx="2395728" cy="356616"/>
          </a:xfrm>
          <a:prstGeom prst="rect">
            <a:avLst/>
          </a:prstGeom>
          <a:noFill/>
          <a:ln>
            <a:noFill/>
          </a:ln>
        </p:spPr>
        <p:txBody>
          <a:bodyPr wrap="square" lIns="91440" tIns="45720" rIns="91440" bIns="45720"/>
          <a:lstStyle/>
          <a:p>
            <a:r>
              <a:rPr lang="vi-VN" sz="1000">
                <a:solidFill>
                  <a:srgbClr val="0F172A"/>
                </a:solidFill>
              </a:rPr>
              <a:t>scratch</a:t>
            </a:r>
          </a:p>
        </p:txBody>
      </p:sp>
      <p:sp>
        <p:nvSpPr>
          <p:cNvPr id="15" name="Shape 15"/>
          <p:cNvSpPr/>
          <p:nvPr/>
        </p:nvSpPr>
        <p:spPr>
          <a:xfrm>
            <a:off x="3154680" y="1664208"/>
            <a:ext cx="1920240" cy="429768"/>
          </a:xfrm>
          <a:prstGeom prst="rect">
            <a:avLst/>
          </a:prstGeom>
          <a:solidFill>
            <a:srgbClr val="FFFFFF"/>
          </a:solidFill>
          <a:ln w="12700">
            <a:solidFill>
              <a:srgbClr val="E2E8F0"/>
            </a:solidFill>
          </a:ln>
        </p:spPr>
      </p:sp>
      <p:sp>
        <p:nvSpPr>
          <p:cNvPr id="16" name="TextBox 16"/>
          <p:cNvSpPr txBox="1"/>
          <p:nvPr/>
        </p:nvSpPr>
        <p:spPr>
          <a:xfrm>
            <a:off x="3191256" y="1728216"/>
            <a:ext cx="1847088" cy="356616"/>
          </a:xfrm>
          <a:prstGeom prst="rect">
            <a:avLst/>
          </a:prstGeom>
          <a:noFill/>
          <a:ln>
            <a:noFill/>
          </a:ln>
        </p:spPr>
        <p:txBody>
          <a:bodyPr wrap="square" lIns="91440" tIns="45720" rIns="91440" bIns="45720"/>
          <a:lstStyle/>
          <a:p>
            <a:r>
              <a:rPr lang="vi-VN" sz="1000">
                <a:solidFill>
                  <a:srgbClr val="0F172A"/>
                </a:solidFill>
              </a:rPr>
              <a:t>3.595</a:t>
            </a:r>
          </a:p>
        </p:txBody>
      </p:sp>
      <p:sp>
        <p:nvSpPr>
          <p:cNvPr id="17" name="Shape 17"/>
          <p:cNvSpPr/>
          <p:nvPr/>
        </p:nvSpPr>
        <p:spPr>
          <a:xfrm>
            <a:off x="5074920" y="1664208"/>
            <a:ext cx="1554480" cy="429768"/>
          </a:xfrm>
          <a:prstGeom prst="rect">
            <a:avLst/>
          </a:prstGeom>
          <a:solidFill>
            <a:srgbClr val="FFFFFF"/>
          </a:solidFill>
          <a:ln w="12700">
            <a:solidFill>
              <a:srgbClr val="E2E8F0"/>
            </a:solidFill>
          </a:ln>
        </p:spPr>
      </p:sp>
      <p:sp>
        <p:nvSpPr>
          <p:cNvPr id="18" name="TextBox 18"/>
          <p:cNvSpPr txBox="1"/>
          <p:nvPr/>
        </p:nvSpPr>
        <p:spPr>
          <a:xfrm>
            <a:off x="5111496" y="1728216"/>
            <a:ext cx="1481328" cy="356616"/>
          </a:xfrm>
          <a:prstGeom prst="rect">
            <a:avLst/>
          </a:prstGeom>
          <a:noFill/>
          <a:ln>
            <a:noFill/>
          </a:ln>
        </p:spPr>
        <p:txBody>
          <a:bodyPr wrap="square" lIns="91440" tIns="45720" rIns="91440" bIns="45720"/>
          <a:lstStyle/>
          <a:p>
            <a:r>
              <a:rPr lang="vi-VN" sz="1000">
                <a:solidFill>
                  <a:srgbClr val="0F172A"/>
                </a:solidFill>
              </a:rPr>
              <a:t>41,1%</a:t>
            </a:r>
          </a:p>
        </p:txBody>
      </p:sp>
      <p:sp>
        <p:nvSpPr>
          <p:cNvPr id="19" name="Shape 19"/>
          <p:cNvSpPr/>
          <p:nvPr/>
        </p:nvSpPr>
        <p:spPr>
          <a:xfrm>
            <a:off x="685800" y="2093976"/>
            <a:ext cx="2468880" cy="429768"/>
          </a:xfrm>
          <a:prstGeom prst="rect">
            <a:avLst/>
          </a:prstGeom>
          <a:solidFill>
            <a:srgbClr val="FFFFFF"/>
          </a:solidFill>
          <a:ln w="12700">
            <a:solidFill>
              <a:srgbClr val="E2E8F0"/>
            </a:solidFill>
          </a:ln>
        </p:spPr>
      </p:sp>
      <p:sp>
        <p:nvSpPr>
          <p:cNvPr id="20" name="TextBox 20"/>
          <p:cNvSpPr txBox="1"/>
          <p:nvPr/>
        </p:nvSpPr>
        <p:spPr>
          <a:xfrm>
            <a:off x="722376" y="2157984"/>
            <a:ext cx="2395728" cy="356616"/>
          </a:xfrm>
          <a:prstGeom prst="rect">
            <a:avLst/>
          </a:prstGeom>
          <a:noFill/>
          <a:ln>
            <a:noFill/>
          </a:ln>
        </p:spPr>
        <p:txBody>
          <a:bodyPr wrap="square" lIns="91440" tIns="45720" rIns="91440" bIns="45720"/>
          <a:lstStyle/>
          <a:p>
            <a:r>
              <a:rPr lang="vi-VN" sz="1000">
                <a:solidFill>
                  <a:srgbClr val="0F172A"/>
                </a:solidFill>
              </a:rPr>
              <a:t>dent</a:t>
            </a:r>
          </a:p>
        </p:txBody>
      </p:sp>
      <p:sp>
        <p:nvSpPr>
          <p:cNvPr id="21" name="Shape 21"/>
          <p:cNvSpPr/>
          <p:nvPr/>
        </p:nvSpPr>
        <p:spPr>
          <a:xfrm>
            <a:off x="3154680" y="2093976"/>
            <a:ext cx="1920240" cy="429768"/>
          </a:xfrm>
          <a:prstGeom prst="rect">
            <a:avLst/>
          </a:prstGeom>
          <a:solidFill>
            <a:srgbClr val="FFFFFF"/>
          </a:solidFill>
          <a:ln w="12700">
            <a:solidFill>
              <a:srgbClr val="E2E8F0"/>
            </a:solidFill>
          </a:ln>
        </p:spPr>
      </p:sp>
      <p:sp>
        <p:nvSpPr>
          <p:cNvPr id="22" name="TextBox 22"/>
          <p:cNvSpPr txBox="1"/>
          <p:nvPr/>
        </p:nvSpPr>
        <p:spPr>
          <a:xfrm>
            <a:off x="3191256" y="2157984"/>
            <a:ext cx="1847088" cy="356616"/>
          </a:xfrm>
          <a:prstGeom prst="rect">
            <a:avLst/>
          </a:prstGeom>
          <a:noFill/>
          <a:ln>
            <a:noFill/>
          </a:ln>
        </p:spPr>
        <p:txBody>
          <a:bodyPr wrap="square" lIns="91440" tIns="45720" rIns="91440" bIns="45720"/>
          <a:lstStyle/>
          <a:p>
            <a:r>
              <a:rPr lang="vi-VN" sz="1000">
                <a:solidFill>
                  <a:srgbClr val="0F172A"/>
                </a:solidFill>
              </a:rPr>
              <a:t>2.543</a:t>
            </a:r>
          </a:p>
        </p:txBody>
      </p:sp>
      <p:sp>
        <p:nvSpPr>
          <p:cNvPr id="23" name="Shape 23"/>
          <p:cNvSpPr/>
          <p:nvPr/>
        </p:nvSpPr>
        <p:spPr>
          <a:xfrm>
            <a:off x="5074920" y="2093976"/>
            <a:ext cx="1554480" cy="429768"/>
          </a:xfrm>
          <a:prstGeom prst="rect">
            <a:avLst/>
          </a:prstGeom>
          <a:solidFill>
            <a:srgbClr val="FFFFFF"/>
          </a:solidFill>
          <a:ln w="12700">
            <a:solidFill>
              <a:srgbClr val="E2E8F0"/>
            </a:solidFill>
          </a:ln>
        </p:spPr>
      </p:sp>
      <p:sp>
        <p:nvSpPr>
          <p:cNvPr id="24" name="TextBox 24"/>
          <p:cNvSpPr txBox="1"/>
          <p:nvPr/>
        </p:nvSpPr>
        <p:spPr>
          <a:xfrm>
            <a:off x="5111496" y="2157984"/>
            <a:ext cx="1481328" cy="356616"/>
          </a:xfrm>
          <a:prstGeom prst="rect">
            <a:avLst/>
          </a:prstGeom>
          <a:noFill/>
          <a:ln>
            <a:noFill/>
          </a:ln>
        </p:spPr>
        <p:txBody>
          <a:bodyPr wrap="square" lIns="91440" tIns="45720" rIns="91440" bIns="45720"/>
          <a:lstStyle/>
          <a:p>
            <a:r>
              <a:rPr lang="vi-VN" sz="1000">
                <a:solidFill>
                  <a:srgbClr val="0F172A"/>
                </a:solidFill>
              </a:rPr>
              <a:t>29,1%</a:t>
            </a:r>
          </a:p>
        </p:txBody>
      </p:sp>
      <p:sp>
        <p:nvSpPr>
          <p:cNvPr id="25" name="Shape 25"/>
          <p:cNvSpPr/>
          <p:nvPr/>
        </p:nvSpPr>
        <p:spPr>
          <a:xfrm>
            <a:off x="685800" y="2523744"/>
            <a:ext cx="2468880" cy="429768"/>
          </a:xfrm>
          <a:prstGeom prst="rect">
            <a:avLst/>
          </a:prstGeom>
          <a:solidFill>
            <a:srgbClr val="FFFFFF"/>
          </a:solidFill>
          <a:ln w="12700">
            <a:solidFill>
              <a:srgbClr val="E2E8F0"/>
            </a:solidFill>
          </a:ln>
        </p:spPr>
      </p:sp>
      <p:sp>
        <p:nvSpPr>
          <p:cNvPr id="26" name="TextBox 26"/>
          <p:cNvSpPr txBox="1"/>
          <p:nvPr/>
        </p:nvSpPr>
        <p:spPr>
          <a:xfrm>
            <a:off x="722376" y="2587752"/>
            <a:ext cx="2395728" cy="356616"/>
          </a:xfrm>
          <a:prstGeom prst="rect">
            <a:avLst/>
          </a:prstGeom>
          <a:noFill/>
          <a:ln>
            <a:noFill/>
          </a:ln>
        </p:spPr>
        <p:txBody>
          <a:bodyPr wrap="square" lIns="91440" tIns="45720" rIns="91440" bIns="45720"/>
          <a:lstStyle/>
          <a:p>
            <a:r>
              <a:rPr lang="vi-VN" sz="1000">
                <a:solidFill>
                  <a:srgbClr val="0F172A"/>
                </a:solidFill>
              </a:rPr>
              <a:t>crack</a:t>
            </a:r>
          </a:p>
        </p:txBody>
      </p:sp>
      <p:sp>
        <p:nvSpPr>
          <p:cNvPr id="27" name="Shape 27"/>
          <p:cNvSpPr/>
          <p:nvPr/>
        </p:nvSpPr>
        <p:spPr>
          <a:xfrm>
            <a:off x="3154680" y="2523744"/>
            <a:ext cx="1920240" cy="429768"/>
          </a:xfrm>
          <a:prstGeom prst="rect">
            <a:avLst/>
          </a:prstGeom>
          <a:solidFill>
            <a:srgbClr val="FFFFFF"/>
          </a:solidFill>
          <a:ln w="12700">
            <a:solidFill>
              <a:srgbClr val="E2E8F0"/>
            </a:solidFill>
          </a:ln>
        </p:spPr>
      </p:sp>
      <p:sp>
        <p:nvSpPr>
          <p:cNvPr id="28" name="TextBox 28"/>
          <p:cNvSpPr txBox="1"/>
          <p:nvPr/>
        </p:nvSpPr>
        <p:spPr>
          <a:xfrm>
            <a:off x="3191256" y="2587752"/>
            <a:ext cx="1847088" cy="356616"/>
          </a:xfrm>
          <a:prstGeom prst="rect">
            <a:avLst/>
          </a:prstGeom>
          <a:noFill/>
          <a:ln>
            <a:noFill/>
          </a:ln>
        </p:spPr>
        <p:txBody>
          <a:bodyPr wrap="square" lIns="91440" tIns="45720" rIns="91440" bIns="45720"/>
          <a:lstStyle/>
          <a:p>
            <a:r>
              <a:rPr lang="vi-VN" sz="1000">
                <a:solidFill>
                  <a:srgbClr val="0F172A"/>
                </a:solidFill>
              </a:rPr>
              <a:t>898</a:t>
            </a:r>
          </a:p>
        </p:txBody>
      </p:sp>
      <p:sp>
        <p:nvSpPr>
          <p:cNvPr id="29" name="Shape 29"/>
          <p:cNvSpPr/>
          <p:nvPr/>
        </p:nvSpPr>
        <p:spPr>
          <a:xfrm>
            <a:off x="5074920" y="2523744"/>
            <a:ext cx="1554480" cy="429768"/>
          </a:xfrm>
          <a:prstGeom prst="rect">
            <a:avLst/>
          </a:prstGeom>
          <a:solidFill>
            <a:srgbClr val="FFFFFF"/>
          </a:solidFill>
          <a:ln w="12700">
            <a:solidFill>
              <a:srgbClr val="E2E8F0"/>
            </a:solidFill>
          </a:ln>
        </p:spPr>
      </p:sp>
      <p:sp>
        <p:nvSpPr>
          <p:cNvPr id="30" name="TextBox 30"/>
          <p:cNvSpPr txBox="1"/>
          <p:nvPr/>
        </p:nvSpPr>
        <p:spPr>
          <a:xfrm>
            <a:off x="5111496" y="2587752"/>
            <a:ext cx="1481328" cy="356616"/>
          </a:xfrm>
          <a:prstGeom prst="rect">
            <a:avLst/>
          </a:prstGeom>
          <a:noFill/>
          <a:ln>
            <a:noFill/>
          </a:ln>
        </p:spPr>
        <p:txBody>
          <a:bodyPr wrap="square" lIns="91440" tIns="45720" rIns="91440" bIns="45720"/>
          <a:lstStyle/>
          <a:p>
            <a:r>
              <a:rPr lang="vi-VN" sz="1000">
                <a:solidFill>
                  <a:srgbClr val="0F172A"/>
                </a:solidFill>
              </a:rPr>
              <a:t>10,3%</a:t>
            </a:r>
          </a:p>
        </p:txBody>
      </p:sp>
      <p:sp>
        <p:nvSpPr>
          <p:cNvPr id="31" name="Shape 31"/>
          <p:cNvSpPr/>
          <p:nvPr/>
        </p:nvSpPr>
        <p:spPr>
          <a:xfrm>
            <a:off x="685800" y="2953512"/>
            <a:ext cx="2468880" cy="429768"/>
          </a:xfrm>
          <a:prstGeom prst="rect">
            <a:avLst/>
          </a:prstGeom>
          <a:solidFill>
            <a:srgbClr val="FFFFFF"/>
          </a:solidFill>
          <a:ln w="12700">
            <a:solidFill>
              <a:srgbClr val="E2E8F0"/>
            </a:solidFill>
          </a:ln>
        </p:spPr>
      </p:sp>
      <p:sp>
        <p:nvSpPr>
          <p:cNvPr id="32" name="TextBox 32"/>
          <p:cNvSpPr txBox="1"/>
          <p:nvPr/>
        </p:nvSpPr>
        <p:spPr>
          <a:xfrm>
            <a:off x="722376" y="3017520"/>
            <a:ext cx="2395728" cy="356616"/>
          </a:xfrm>
          <a:prstGeom prst="rect">
            <a:avLst/>
          </a:prstGeom>
          <a:noFill/>
          <a:ln>
            <a:noFill/>
          </a:ln>
        </p:spPr>
        <p:txBody>
          <a:bodyPr wrap="square" lIns="91440" tIns="45720" rIns="91440" bIns="45720"/>
          <a:lstStyle/>
          <a:p>
            <a:r>
              <a:rPr lang="vi-VN" sz="1000">
                <a:solidFill>
                  <a:srgbClr val="0F172A"/>
                </a:solidFill>
              </a:rPr>
              <a:t>lamp_broken</a:t>
            </a:r>
          </a:p>
        </p:txBody>
      </p:sp>
      <p:sp>
        <p:nvSpPr>
          <p:cNvPr id="33" name="Shape 33"/>
          <p:cNvSpPr/>
          <p:nvPr/>
        </p:nvSpPr>
        <p:spPr>
          <a:xfrm>
            <a:off x="3154680" y="2953512"/>
            <a:ext cx="1920240" cy="429768"/>
          </a:xfrm>
          <a:prstGeom prst="rect">
            <a:avLst/>
          </a:prstGeom>
          <a:solidFill>
            <a:srgbClr val="FFFFFF"/>
          </a:solidFill>
          <a:ln w="12700">
            <a:solidFill>
              <a:srgbClr val="E2E8F0"/>
            </a:solidFill>
          </a:ln>
        </p:spPr>
      </p:sp>
      <p:sp>
        <p:nvSpPr>
          <p:cNvPr id="34" name="TextBox 34"/>
          <p:cNvSpPr txBox="1"/>
          <p:nvPr/>
        </p:nvSpPr>
        <p:spPr>
          <a:xfrm>
            <a:off x="3191256" y="3017520"/>
            <a:ext cx="1847088" cy="356616"/>
          </a:xfrm>
          <a:prstGeom prst="rect">
            <a:avLst/>
          </a:prstGeom>
          <a:noFill/>
          <a:ln>
            <a:noFill/>
          </a:ln>
        </p:spPr>
        <p:txBody>
          <a:bodyPr wrap="square" lIns="91440" tIns="45720" rIns="91440" bIns="45720"/>
          <a:lstStyle/>
          <a:p>
            <a:r>
              <a:rPr lang="vi-VN" sz="1000">
                <a:solidFill>
                  <a:srgbClr val="0F172A"/>
                </a:solidFill>
              </a:rPr>
              <a:t>704</a:t>
            </a:r>
          </a:p>
        </p:txBody>
      </p:sp>
      <p:sp>
        <p:nvSpPr>
          <p:cNvPr id="35" name="Shape 35"/>
          <p:cNvSpPr/>
          <p:nvPr/>
        </p:nvSpPr>
        <p:spPr>
          <a:xfrm>
            <a:off x="5074920" y="2953512"/>
            <a:ext cx="1554480" cy="429768"/>
          </a:xfrm>
          <a:prstGeom prst="rect">
            <a:avLst/>
          </a:prstGeom>
          <a:solidFill>
            <a:srgbClr val="FFFFFF"/>
          </a:solidFill>
          <a:ln w="12700">
            <a:solidFill>
              <a:srgbClr val="E2E8F0"/>
            </a:solidFill>
          </a:ln>
        </p:spPr>
      </p:sp>
      <p:sp>
        <p:nvSpPr>
          <p:cNvPr id="36" name="TextBox 36"/>
          <p:cNvSpPr txBox="1"/>
          <p:nvPr/>
        </p:nvSpPr>
        <p:spPr>
          <a:xfrm>
            <a:off x="5111496" y="3017520"/>
            <a:ext cx="1481328" cy="356616"/>
          </a:xfrm>
          <a:prstGeom prst="rect">
            <a:avLst/>
          </a:prstGeom>
          <a:noFill/>
          <a:ln>
            <a:noFill/>
          </a:ln>
        </p:spPr>
        <p:txBody>
          <a:bodyPr wrap="square" lIns="91440" tIns="45720" rIns="91440" bIns="45720"/>
          <a:lstStyle/>
          <a:p>
            <a:r>
              <a:rPr lang="vi-VN" sz="1000">
                <a:solidFill>
                  <a:srgbClr val="0F172A"/>
                </a:solidFill>
              </a:rPr>
              <a:t>8,1%</a:t>
            </a:r>
          </a:p>
        </p:txBody>
      </p:sp>
      <p:sp>
        <p:nvSpPr>
          <p:cNvPr id="37" name="Shape 37"/>
          <p:cNvSpPr/>
          <p:nvPr/>
        </p:nvSpPr>
        <p:spPr>
          <a:xfrm>
            <a:off x="685800" y="3383280"/>
            <a:ext cx="2468880" cy="429768"/>
          </a:xfrm>
          <a:prstGeom prst="rect">
            <a:avLst/>
          </a:prstGeom>
          <a:solidFill>
            <a:srgbClr val="FFFFFF"/>
          </a:solidFill>
          <a:ln w="12700">
            <a:solidFill>
              <a:srgbClr val="E2E8F0"/>
            </a:solidFill>
          </a:ln>
        </p:spPr>
      </p:sp>
      <p:sp>
        <p:nvSpPr>
          <p:cNvPr id="38" name="TextBox 38"/>
          <p:cNvSpPr txBox="1"/>
          <p:nvPr/>
        </p:nvSpPr>
        <p:spPr>
          <a:xfrm>
            <a:off x="722376" y="3447288"/>
            <a:ext cx="2395728" cy="356616"/>
          </a:xfrm>
          <a:prstGeom prst="rect">
            <a:avLst/>
          </a:prstGeom>
          <a:noFill/>
          <a:ln>
            <a:noFill/>
          </a:ln>
        </p:spPr>
        <p:txBody>
          <a:bodyPr wrap="square" lIns="91440" tIns="45720" rIns="91440" bIns="45720"/>
          <a:lstStyle/>
          <a:p>
            <a:r>
              <a:rPr lang="vi-VN" sz="1000">
                <a:solidFill>
                  <a:srgbClr val="0F172A"/>
                </a:solidFill>
              </a:rPr>
              <a:t>glass_broken</a:t>
            </a:r>
          </a:p>
        </p:txBody>
      </p:sp>
      <p:sp>
        <p:nvSpPr>
          <p:cNvPr id="39" name="Shape 39"/>
          <p:cNvSpPr/>
          <p:nvPr/>
        </p:nvSpPr>
        <p:spPr>
          <a:xfrm>
            <a:off x="3154680" y="3383280"/>
            <a:ext cx="1920240" cy="429768"/>
          </a:xfrm>
          <a:prstGeom prst="rect">
            <a:avLst/>
          </a:prstGeom>
          <a:solidFill>
            <a:srgbClr val="FFFFFF"/>
          </a:solidFill>
          <a:ln w="12700">
            <a:solidFill>
              <a:srgbClr val="E2E8F0"/>
            </a:solidFill>
          </a:ln>
        </p:spPr>
      </p:sp>
      <p:sp>
        <p:nvSpPr>
          <p:cNvPr id="40" name="TextBox 40"/>
          <p:cNvSpPr txBox="1"/>
          <p:nvPr/>
        </p:nvSpPr>
        <p:spPr>
          <a:xfrm>
            <a:off x="3191256" y="3447288"/>
            <a:ext cx="1847088" cy="356616"/>
          </a:xfrm>
          <a:prstGeom prst="rect">
            <a:avLst/>
          </a:prstGeom>
          <a:noFill/>
          <a:ln>
            <a:noFill/>
          </a:ln>
        </p:spPr>
        <p:txBody>
          <a:bodyPr wrap="square" lIns="91440" tIns="45720" rIns="91440" bIns="45720"/>
          <a:lstStyle/>
          <a:p>
            <a:r>
              <a:rPr lang="vi-VN" sz="1000">
                <a:solidFill>
                  <a:srgbClr val="0F172A"/>
                </a:solidFill>
              </a:rPr>
              <a:t>681</a:t>
            </a:r>
          </a:p>
        </p:txBody>
      </p:sp>
      <p:sp>
        <p:nvSpPr>
          <p:cNvPr id="41" name="Shape 41"/>
          <p:cNvSpPr/>
          <p:nvPr/>
        </p:nvSpPr>
        <p:spPr>
          <a:xfrm>
            <a:off x="5074920" y="3383280"/>
            <a:ext cx="1554480" cy="429768"/>
          </a:xfrm>
          <a:prstGeom prst="rect">
            <a:avLst/>
          </a:prstGeom>
          <a:solidFill>
            <a:srgbClr val="FFFFFF"/>
          </a:solidFill>
          <a:ln w="12700">
            <a:solidFill>
              <a:srgbClr val="E2E8F0"/>
            </a:solidFill>
          </a:ln>
        </p:spPr>
      </p:sp>
      <p:sp>
        <p:nvSpPr>
          <p:cNvPr id="42" name="TextBox 42"/>
          <p:cNvSpPr txBox="1"/>
          <p:nvPr/>
        </p:nvSpPr>
        <p:spPr>
          <a:xfrm>
            <a:off x="5111496" y="3447288"/>
            <a:ext cx="1481328" cy="356616"/>
          </a:xfrm>
          <a:prstGeom prst="rect">
            <a:avLst/>
          </a:prstGeom>
          <a:noFill/>
          <a:ln>
            <a:noFill/>
          </a:ln>
        </p:spPr>
        <p:txBody>
          <a:bodyPr wrap="square" lIns="91440" tIns="45720" rIns="91440" bIns="45720"/>
          <a:lstStyle/>
          <a:p>
            <a:r>
              <a:rPr lang="vi-VN" sz="1000">
                <a:solidFill>
                  <a:srgbClr val="0F172A"/>
                </a:solidFill>
              </a:rPr>
              <a:t>7,8%</a:t>
            </a:r>
          </a:p>
        </p:txBody>
      </p:sp>
      <p:sp>
        <p:nvSpPr>
          <p:cNvPr id="43" name="Shape 43"/>
          <p:cNvSpPr/>
          <p:nvPr/>
        </p:nvSpPr>
        <p:spPr>
          <a:xfrm>
            <a:off x="685800" y="3813048"/>
            <a:ext cx="2468880" cy="429768"/>
          </a:xfrm>
          <a:prstGeom prst="rect">
            <a:avLst/>
          </a:prstGeom>
          <a:solidFill>
            <a:srgbClr val="FFFFFF"/>
          </a:solidFill>
          <a:ln w="12700">
            <a:solidFill>
              <a:srgbClr val="E2E8F0"/>
            </a:solidFill>
          </a:ln>
        </p:spPr>
      </p:sp>
      <p:sp>
        <p:nvSpPr>
          <p:cNvPr id="44" name="TextBox 44"/>
          <p:cNvSpPr txBox="1"/>
          <p:nvPr/>
        </p:nvSpPr>
        <p:spPr>
          <a:xfrm>
            <a:off x="722376" y="3877056"/>
            <a:ext cx="2395728" cy="356616"/>
          </a:xfrm>
          <a:prstGeom prst="rect">
            <a:avLst/>
          </a:prstGeom>
          <a:noFill/>
          <a:ln>
            <a:noFill/>
          </a:ln>
        </p:spPr>
        <p:txBody>
          <a:bodyPr wrap="square" lIns="91440" tIns="45720" rIns="91440" bIns="45720"/>
          <a:lstStyle/>
          <a:p>
            <a:r>
              <a:rPr lang="vi-VN" sz="1000">
                <a:solidFill>
                  <a:srgbClr val="0F172A"/>
                </a:solidFill>
              </a:rPr>
              <a:t>tire_flat</a:t>
            </a:r>
          </a:p>
        </p:txBody>
      </p:sp>
      <p:sp>
        <p:nvSpPr>
          <p:cNvPr id="45" name="Shape 45"/>
          <p:cNvSpPr/>
          <p:nvPr/>
        </p:nvSpPr>
        <p:spPr>
          <a:xfrm>
            <a:off x="3154680" y="3813048"/>
            <a:ext cx="1920240" cy="429768"/>
          </a:xfrm>
          <a:prstGeom prst="rect">
            <a:avLst/>
          </a:prstGeom>
          <a:solidFill>
            <a:srgbClr val="FFFFFF"/>
          </a:solidFill>
          <a:ln w="12700">
            <a:solidFill>
              <a:srgbClr val="E2E8F0"/>
            </a:solidFill>
          </a:ln>
        </p:spPr>
      </p:sp>
      <p:sp>
        <p:nvSpPr>
          <p:cNvPr id="46" name="TextBox 46"/>
          <p:cNvSpPr txBox="1"/>
          <p:nvPr/>
        </p:nvSpPr>
        <p:spPr>
          <a:xfrm>
            <a:off x="3191256" y="3877056"/>
            <a:ext cx="1847088" cy="356616"/>
          </a:xfrm>
          <a:prstGeom prst="rect">
            <a:avLst/>
          </a:prstGeom>
          <a:noFill/>
          <a:ln>
            <a:noFill/>
          </a:ln>
        </p:spPr>
        <p:txBody>
          <a:bodyPr wrap="square" lIns="91440" tIns="45720" rIns="91440" bIns="45720"/>
          <a:lstStyle/>
          <a:p>
            <a:r>
              <a:rPr lang="vi-VN" sz="1000">
                <a:solidFill>
                  <a:srgbClr val="0F172A"/>
                </a:solidFill>
              </a:rPr>
              <a:t>319</a:t>
            </a:r>
          </a:p>
        </p:txBody>
      </p:sp>
      <p:sp>
        <p:nvSpPr>
          <p:cNvPr id="47" name="Shape 47"/>
          <p:cNvSpPr/>
          <p:nvPr/>
        </p:nvSpPr>
        <p:spPr>
          <a:xfrm>
            <a:off x="5074920" y="3813048"/>
            <a:ext cx="1554480" cy="429768"/>
          </a:xfrm>
          <a:prstGeom prst="rect">
            <a:avLst/>
          </a:prstGeom>
          <a:solidFill>
            <a:srgbClr val="FFFFFF"/>
          </a:solidFill>
          <a:ln w="12700">
            <a:solidFill>
              <a:srgbClr val="E2E8F0"/>
            </a:solidFill>
          </a:ln>
        </p:spPr>
      </p:sp>
      <p:sp>
        <p:nvSpPr>
          <p:cNvPr id="48" name="TextBox 48"/>
          <p:cNvSpPr txBox="1"/>
          <p:nvPr/>
        </p:nvSpPr>
        <p:spPr>
          <a:xfrm>
            <a:off x="5111496" y="3877056"/>
            <a:ext cx="1481328" cy="356616"/>
          </a:xfrm>
          <a:prstGeom prst="rect">
            <a:avLst/>
          </a:prstGeom>
          <a:noFill/>
          <a:ln>
            <a:noFill/>
          </a:ln>
        </p:spPr>
        <p:txBody>
          <a:bodyPr wrap="square" lIns="91440" tIns="45720" rIns="91440" bIns="45720"/>
          <a:lstStyle/>
          <a:p>
            <a:r>
              <a:rPr lang="vi-VN" sz="1000">
                <a:solidFill>
                  <a:srgbClr val="0F172A"/>
                </a:solidFill>
              </a:rPr>
              <a:t>3,6%</a:t>
            </a:r>
          </a:p>
        </p:txBody>
      </p:sp>
      <p:sp>
        <p:nvSpPr>
          <p:cNvPr id="49" name="TextBox 49"/>
          <p:cNvSpPr txBox="1"/>
          <p:nvPr/>
        </p:nvSpPr>
        <p:spPr>
          <a:xfrm>
            <a:off x="6766560" y="1298448"/>
            <a:ext cx="1508760" cy="256032"/>
          </a:xfrm>
          <a:prstGeom prst="rect">
            <a:avLst/>
          </a:prstGeom>
          <a:noFill/>
          <a:ln>
            <a:noFill/>
          </a:ln>
        </p:spPr>
        <p:txBody>
          <a:bodyPr wrap="square" lIns="91440" tIns="45720" rIns="91440" bIns="45720"/>
          <a:lstStyle/>
          <a:p>
            <a:r>
              <a:rPr lang="vi-VN" sz="1100" b="1">
                <a:solidFill>
                  <a:srgbClr val="111827"/>
                </a:solidFill>
              </a:rPr>
              <a:t>scratch</a:t>
            </a:r>
          </a:p>
        </p:txBody>
      </p:sp>
      <p:sp>
        <p:nvSpPr>
          <p:cNvPr id="50" name="Shape 50"/>
          <p:cNvSpPr/>
          <p:nvPr/>
        </p:nvSpPr>
        <p:spPr>
          <a:xfrm>
            <a:off x="8229600" y="1325880"/>
            <a:ext cx="2331720" cy="201168"/>
          </a:xfrm>
          <a:prstGeom prst="roundRect">
            <a:avLst/>
          </a:prstGeom>
          <a:solidFill>
            <a:srgbClr val="F1F5F9"/>
          </a:solidFill>
          <a:ln>
            <a:noFill/>
          </a:ln>
        </p:spPr>
      </p:sp>
      <p:sp>
        <p:nvSpPr>
          <p:cNvPr id="51" name="Shape 51"/>
          <p:cNvSpPr/>
          <p:nvPr/>
        </p:nvSpPr>
        <p:spPr>
          <a:xfrm>
            <a:off x="8229600" y="1325880"/>
            <a:ext cx="2331720" cy="201168"/>
          </a:xfrm>
          <a:prstGeom prst="roundRect">
            <a:avLst/>
          </a:prstGeom>
          <a:solidFill>
            <a:srgbClr val="7C3AED"/>
          </a:solidFill>
          <a:ln>
            <a:noFill/>
          </a:ln>
        </p:spPr>
      </p:sp>
      <p:sp>
        <p:nvSpPr>
          <p:cNvPr id="52" name="TextBox 52"/>
          <p:cNvSpPr txBox="1"/>
          <p:nvPr/>
        </p:nvSpPr>
        <p:spPr>
          <a:xfrm>
            <a:off x="10671048" y="1298448"/>
            <a:ext cx="1645920" cy="292608"/>
          </a:xfrm>
          <a:prstGeom prst="rect">
            <a:avLst/>
          </a:prstGeom>
          <a:noFill/>
          <a:ln>
            <a:noFill/>
          </a:ln>
        </p:spPr>
        <p:txBody>
          <a:bodyPr wrap="square" lIns="91440" tIns="45720" rIns="91440" bIns="45720"/>
          <a:lstStyle/>
          <a:p>
            <a:r>
              <a:rPr lang="vi-VN" sz="1100" b="1">
                <a:solidFill>
                  <a:srgbClr val="111827"/>
                </a:solidFill>
              </a:rPr>
              <a:t>3.595</a:t>
            </a:r>
          </a:p>
        </p:txBody>
      </p:sp>
      <p:sp>
        <p:nvSpPr>
          <p:cNvPr id="53" name="TextBox 53"/>
          <p:cNvSpPr txBox="1"/>
          <p:nvPr/>
        </p:nvSpPr>
        <p:spPr>
          <a:xfrm>
            <a:off x="6766560" y="1865376"/>
            <a:ext cx="1508760" cy="256032"/>
          </a:xfrm>
          <a:prstGeom prst="rect">
            <a:avLst/>
          </a:prstGeom>
          <a:noFill/>
          <a:ln>
            <a:noFill/>
          </a:ln>
        </p:spPr>
        <p:txBody>
          <a:bodyPr wrap="square" lIns="91440" tIns="45720" rIns="91440" bIns="45720"/>
          <a:lstStyle/>
          <a:p>
            <a:r>
              <a:rPr lang="vi-VN" sz="1100" b="1">
                <a:solidFill>
                  <a:srgbClr val="111827"/>
                </a:solidFill>
              </a:rPr>
              <a:t>dent</a:t>
            </a:r>
          </a:p>
        </p:txBody>
      </p:sp>
      <p:sp>
        <p:nvSpPr>
          <p:cNvPr id="54" name="Shape 54"/>
          <p:cNvSpPr/>
          <p:nvPr/>
        </p:nvSpPr>
        <p:spPr>
          <a:xfrm>
            <a:off x="8229600" y="1892808"/>
            <a:ext cx="2331720" cy="201168"/>
          </a:xfrm>
          <a:prstGeom prst="roundRect">
            <a:avLst/>
          </a:prstGeom>
          <a:solidFill>
            <a:srgbClr val="F1F5F9"/>
          </a:solidFill>
          <a:ln>
            <a:noFill/>
          </a:ln>
        </p:spPr>
      </p:sp>
      <p:sp>
        <p:nvSpPr>
          <p:cNvPr id="55" name="Shape 55"/>
          <p:cNvSpPr/>
          <p:nvPr/>
        </p:nvSpPr>
        <p:spPr>
          <a:xfrm>
            <a:off x="8229600" y="1892808"/>
            <a:ext cx="1649392" cy="201168"/>
          </a:xfrm>
          <a:prstGeom prst="roundRect">
            <a:avLst/>
          </a:prstGeom>
          <a:solidFill>
            <a:srgbClr val="A3E635"/>
          </a:solidFill>
          <a:ln>
            <a:noFill/>
          </a:ln>
        </p:spPr>
      </p:sp>
      <p:sp>
        <p:nvSpPr>
          <p:cNvPr id="56" name="TextBox 56"/>
          <p:cNvSpPr txBox="1"/>
          <p:nvPr/>
        </p:nvSpPr>
        <p:spPr>
          <a:xfrm>
            <a:off x="10671048" y="1865376"/>
            <a:ext cx="1645920" cy="292608"/>
          </a:xfrm>
          <a:prstGeom prst="rect">
            <a:avLst/>
          </a:prstGeom>
          <a:noFill/>
          <a:ln>
            <a:noFill/>
          </a:ln>
        </p:spPr>
        <p:txBody>
          <a:bodyPr wrap="square" lIns="91440" tIns="45720" rIns="91440" bIns="45720"/>
          <a:lstStyle/>
          <a:p>
            <a:r>
              <a:rPr lang="vi-VN" sz="1100" b="1">
                <a:solidFill>
                  <a:srgbClr val="111827"/>
                </a:solidFill>
              </a:rPr>
              <a:t>2.543</a:t>
            </a:r>
          </a:p>
        </p:txBody>
      </p:sp>
      <p:sp>
        <p:nvSpPr>
          <p:cNvPr id="57" name="TextBox 57"/>
          <p:cNvSpPr txBox="1"/>
          <p:nvPr/>
        </p:nvSpPr>
        <p:spPr>
          <a:xfrm>
            <a:off x="6766560" y="2432304"/>
            <a:ext cx="1508760" cy="256032"/>
          </a:xfrm>
          <a:prstGeom prst="rect">
            <a:avLst/>
          </a:prstGeom>
          <a:noFill/>
          <a:ln>
            <a:noFill/>
          </a:ln>
        </p:spPr>
        <p:txBody>
          <a:bodyPr wrap="square" lIns="91440" tIns="45720" rIns="91440" bIns="45720"/>
          <a:lstStyle/>
          <a:p>
            <a:r>
              <a:rPr lang="vi-VN" sz="1100" b="1">
                <a:solidFill>
                  <a:srgbClr val="111827"/>
                </a:solidFill>
              </a:rPr>
              <a:t>crack</a:t>
            </a:r>
          </a:p>
        </p:txBody>
      </p:sp>
      <p:sp>
        <p:nvSpPr>
          <p:cNvPr id="58" name="Shape 58"/>
          <p:cNvSpPr/>
          <p:nvPr/>
        </p:nvSpPr>
        <p:spPr>
          <a:xfrm>
            <a:off x="8229600" y="2459736"/>
            <a:ext cx="2331720" cy="201168"/>
          </a:xfrm>
          <a:prstGeom prst="roundRect">
            <a:avLst/>
          </a:prstGeom>
          <a:solidFill>
            <a:srgbClr val="F1F5F9"/>
          </a:solidFill>
          <a:ln>
            <a:noFill/>
          </a:ln>
        </p:spPr>
      </p:sp>
      <p:sp>
        <p:nvSpPr>
          <p:cNvPr id="59" name="Shape 59"/>
          <p:cNvSpPr/>
          <p:nvPr/>
        </p:nvSpPr>
        <p:spPr>
          <a:xfrm>
            <a:off x="8229600" y="2459736"/>
            <a:ext cx="582444" cy="201168"/>
          </a:xfrm>
          <a:prstGeom prst="roundRect">
            <a:avLst/>
          </a:prstGeom>
          <a:solidFill>
            <a:srgbClr val="0EA5E9"/>
          </a:solidFill>
          <a:ln>
            <a:noFill/>
          </a:ln>
        </p:spPr>
      </p:sp>
      <p:sp>
        <p:nvSpPr>
          <p:cNvPr id="60" name="TextBox 60"/>
          <p:cNvSpPr txBox="1"/>
          <p:nvPr/>
        </p:nvSpPr>
        <p:spPr>
          <a:xfrm>
            <a:off x="10671048" y="2432304"/>
            <a:ext cx="1645920" cy="292608"/>
          </a:xfrm>
          <a:prstGeom prst="rect">
            <a:avLst/>
          </a:prstGeom>
          <a:noFill/>
          <a:ln>
            <a:noFill/>
          </a:ln>
        </p:spPr>
        <p:txBody>
          <a:bodyPr wrap="square" lIns="91440" tIns="45720" rIns="91440" bIns="45720"/>
          <a:lstStyle/>
          <a:p>
            <a:r>
              <a:rPr lang="vi-VN" sz="1100" b="1">
                <a:solidFill>
                  <a:srgbClr val="111827"/>
                </a:solidFill>
              </a:rPr>
              <a:t>898</a:t>
            </a:r>
          </a:p>
        </p:txBody>
      </p:sp>
      <p:sp>
        <p:nvSpPr>
          <p:cNvPr id="61" name="TextBox 61"/>
          <p:cNvSpPr txBox="1"/>
          <p:nvPr/>
        </p:nvSpPr>
        <p:spPr>
          <a:xfrm>
            <a:off x="6766560" y="2999232"/>
            <a:ext cx="1508760" cy="256032"/>
          </a:xfrm>
          <a:prstGeom prst="rect">
            <a:avLst/>
          </a:prstGeom>
          <a:noFill/>
          <a:ln>
            <a:noFill/>
          </a:ln>
        </p:spPr>
        <p:txBody>
          <a:bodyPr wrap="square" lIns="91440" tIns="45720" rIns="91440" bIns="45720"/>
          <a:lstStyle/>
          <a:p>
            <a:r>
              <a:rPr lang="vi-VN" sz="1100" b="1">
                <a:solidFill>
                  <a:srgbClr val="111827"/>
                </a:solidFill>
              </a:rPr>
              <a:t>lamp_broken</a:t>
            </a:r>
          </a:p>
        </p:txBody>
      </p:sp>
      <p:sp>
        <p:nvSpPr>
          <p:cNvPr id="62" name="Shape 62"/>
          <p:cNvSpPr/>
          <p:nvPr/>
        </p:nvSpPr>
        <p:spPr>
          <a:xfrm>
            <a:off x="8229600" y="3026664"/>
            <a:ext cx="2331720" cy="201168"/>
          </a:xfrm>
          <a:prstGeom prst="roundRect">
            <a:avLst/>
          </a:prstGeom>
          <a:solidFill>
            <a:srgbClr val="F1F5F9"/>
          </a:solidFill>
          <a:ln>
            <a:noFill/>
          </a:ln>
        </p:spPr>
      </p:sp>
      <p:sp>
        <p:nvSpPr>
          <p:cNvPr id="63" name="Shape 63"/>
          <p:cNvSpPr/>
          <p:nvPr/>
        </p:nvSpPr>
        <p:spPr>
          <a:xfrm>
            <a:off x="8229600" y="3026664"/>
            <a:ext cx="456615" cy="201168"/>
          </a:xfrm>
          <a:prstGeom prst="roundRect">
            <a:avLst/>
          </a:prstGeom>
          <a:solidFill>
            <a:srgbClr val="14B8A6"/>
          </a:solidFill>
          <a:ln>
            <a:noFill/>
          </a:ln>
        </p:spPr>
      </p:sp>
      <p:sp>
        <p:nvSpPr>
          <p:cNvPr id="64" name="TextBox 64"/>
          <p:cNvSpPr txBox="1"/>
          <p:nvPr/>
        </p:nvSpPr>
        <p:spPr>
          <a:xfrm>
            <a:off x="10671048" y="2999232"/>
            <a:ext cx="1645920" cy="292608"/>
          </a:xfrm>
          <a:prstGeom prst="rect">
            <a:avLst/>
          </a:prstGeom>
          <a:noFill/>
          <a:ln>
            <a:noFill/>
          </a:ln>
        </p:spPr>
        <p:txBody>
          <a:bodyPr wrap="square" lIns="91440" tIns="45720" rIns="91440" bIns="45720"/>
          <a:lstStyle/>
          <a:p>
            <a:r>
              <a:rPr lang="vi-VN" sz="1100" b="1">
                <a:solidFill>
                  <a:srgbClr val="111827"/>
                </a:solidFill>
              </a:rPr>
              <a:t>704</a:t>
            </a:r>
          </a:p>
        </p:txBody>
      </p:sp>
      <p:sp>
        <p:nvSpPr>
          <p:cNvPr id="65" name="TextBox 65"/>
          <p:cNvSpPr txBox="1"/>
          <p:nvPr/>
        </p:nvSpPr>
        <p:spPr>
          <a:xfrm>
            <a:off x="6766560" y="3566160"/>
            <a:ext cx="1508760" cy="256032"/>
          </a:xfrm>
          <a:prstGeom prst="rect">
            <a:avLst/>
          </a:prstGeom>
          <a:noFill/>
          <a:ln>
            <a:noFill/>
          </a:ln>
        </p:spPr>
        <p:txBody>
          <a:bodyPr wrap="square" lIns="91440" tIns="45720" rIns="91440" bIns="45720"/>
          <a:lstStyle/>
          <a:p>
            <a:r>
              <a:rPr lang="vi-VN" sz="1100" b="1">
                <a:solidFill>
                  <a:srgbClr val="111827"/>
                </a:solidFill>
              </a:rPr>
              <a:t>glass_broken</a:t>
            </a:r>
          </a:p>
        </p:txBody>
      </p:sp>
      <p:sp>
        <p:nvSpPr>
          <p:cNvPr id="66" name="Shape 66"/>
          <p:cNvSpPr/>
          <p:nvPr/>
        </p:nvSpPr>
        <p:spPr>
          <a:xfrm>
            <a:off x="8229600" y="3593592"/>
            <a:ext cx="2331720" cy="201168"/>
          </a:xfrm>
          <a:prstGeom prst="roundRect">
            <a:avLst/>
          </a:prstGeom>
          <a:solidFill>
            <a:srgbClr val="F1F5F9"/>
          </a:solidFill>
          <a:ln>
            <a:noFill/>
          </a:ln>
        </p:spPr>
      </p:sp>
      <p:sp>
        <p:nvSpPr>
          <p:cNvPr id="67" name="Shape 67"/>
          <p:cNvSpPr/>
          <p:nvPr/>
        </p:nvSpPr>
        <p:spPr>
          <a:xfrm>
            <a:off x="8229600" y="3593592"/>
            <a:ext cx="441697" cy="201168"/>
          </a:xfrm>
          <a:prstGeom prst="roundRect">
            <a:avLst/>
          </a:prstGeom>
          <a:solidFill>
            <a:srgbClr val="E91E63"/>
          </a:solidFill>
          <a:ln>
            <a:noFill/>
          </a:ln>
        </p:spPr>
      </p:sp>
      <p:sp>
        <p:nvSpPr>
          <p:cNvPr id="68" name="TextBox 68"/>
          <p:cNvSpPr txBox="1"/>
          <p:nvPr/>
        </p:nvSpPr>
        <p:spPr>
          <a:xfrm>
            <a:off x="10671048" y="3566160"/>
            <a:ext cx="1645920" cy="292608"/>
          </a:xfrm>
          <a:prstGeom prst="rect">
            <a:avLst/>
          </a:prstGeom>
          <a:noFill/>
          <a:ln>
            <a:noFill/>
          </a:ln>
        </p:spPr>
        <p:txBody>
          <a:bodyPr wrap="square" lIns="91440" tIns="45720" rIns="91440" bIns="45720"/>
          <a:lstStyle/>
          <a:p>
            <a:r>
              <a:rPr lang="vi-VN" sz="1100" b="1">
                <a:solidFill>
                  <a:srgbClr val="111827"/>
                </a:solidFill>
              </a:rPr>
              <a:t>681</a:t>
            </a:r>
          </a:p>
        </p:txBody>
      </p:sp>
      <p:sp>
        <p:nvSpPr>
          <p:cNvPr id="69" name="TextBox 69"/>
          <p:cNvSpPr txBox="1"/>
          <p:nvPr/>
        </p:nvSpPr>
        <p:spPr>
          <a:xfrm>
            <a:off x="6766560" y="4133088"/>
            <a:ext cx="1508760" cy="256032"/>
          </a:xfrm>
          <a:prstGeom prst="rect">
            <a:avLst/>
          </a:prstGeom>
          <a:noFill/>
          <a:ln>
            <a:noFill/>
          </a:ln>
        </p:spPr>
        <p:txBody>
          <a:bodyPr wrap="square" lIns="91440" tIns="45720" rIns="91440" bIns="45720"/>
          <a:lstStyle/>
          <a:p>
            <a:r>
              <a:rPr lang="vi-VN" sz="1100" b="1">
                <a:solidFill>
                  <a:srgbClr val="111827"/>
                </a:solidFill>
              </a:rPr>
              <a:t>tire_flat</a:t>
            </a:r>
          </a:p>
        </p:txBody>
      </p:sp>
      <p:sp>
        <p:nvSpPr>
          <p:cNvPr id="70" name="Shape 70"/>
          <p:cNvSpPr/>
          <p:nvPr/>
        </p:nvSpPr>
        <p:spPr>
          <a:xfrm>
            <a:off x="8229600" y="4160520"/>
            <a:ext cx="2331720" cy="201168"/>
          </a:xfrm>
          <a:prstGeom prst="roundRect">
            <a:avLst/>
          </a:prstGeom>
          <a:solidFill>
            <a:srgbClr val="F1F5F9"/>
          </a:solidFill>
          <a:ln>
            <a:noFill/>
          </a:ln>
        </p:spPr>
      </p:sp>
      <p:sp>
        <p:nvSpPr>
          <p:cNvPr id="71" name="Shape 71"/>
          <p:cNvSpPr/>
          <p:nvPr/>
        </p:nvSpPr>
        <p:spPr>
          <a:xfrm>
            <a:off x="8229600" y="4160520"/>
            <a:ext cx="206904" cy="201168"/>
          </a:xfrm>
          <a:prstGeom prst="roundRect">
            <a:avLst/>
          </a:prstGeom>
          <a:solidFill>
            <a:srgbClr val="F97316"/>
          </a:solidFill>
          <a:ln>
            <a:noFill/>
          </a:ln>
        </p:spPr>
      </p:sp>
      <p:sp>
        <p:nvSpPr>
          <p:cNvPr id="72" name="TextBox 72"/>
          <p:cNvSpPr txBox="1"/>
          <p:nvPr/>
        </p:nvSpPr>
        <p:spPr>
          <a:xfrm>
            <a:off x="10671048" y="4133088"/>
            <a:ext cx="1645920" cy="292608"/>
          </a:xfrm>
          <a:prstGeom prst="rect">
            <a:avLst/>
          </a:prstGeom>
          <a:noFill/>
          <a:ln>
            <a:noFill/>
          </a:ln>
        </p:spPr>
        <p:txBody>
          <a:bodyPr wrap="square" lIns="91440" tIns="45720" rIns="91440" bIns="45720"/>
          <a:lstStyle/>
          <a:p>
            <a:r>
              <a:rPr lang="vi-VN" sz="1100" b="1">
                <a:solidFill>
                  <a:srgbClr val="111827"/>
                </a:solidFill>
              </a:rPr>
              <a:t>319</a:t>
            </a:r>
          </a:p>
        </p:txBody>
      </p:sp>
      <p:sp>
        <p:nvSpPr>
          <p:cNvPr id="73" name="TextBox 73"/>
          <p:cNvSpPr txBox="1"/>
          <p:nvPr/>
        </p:nvSpPr>
        <p:spPr>
          <a:xfrm>
            <a:off x="731520" y="4983480"/>
            <a:ext cx="10332720" cy="640080"/>
          </a:xfrm>
          <a:prstGeom prst="roundRect">
            <a:avLst/>
          </a:prstGeom>
          <a:solidFill>
            <a:srgbClr val="F8FAFC"/>
          </a:solidFill>
          <a:ln w="12700">
            <a:solidFill>
              <a:srgbClr val="E2E8F0"/>
            </a:solidFill>
          </a:ln>
        </p:spPr>
        <p:txBody>
          <a:bodyPr wrap="square" lIns="91440" tIns="45720" rIns="91440" bIns="45720"/>
          <a:lstStyle/>
          <a:p>
            <a:r>
              <a:rPr lang="vi-VN" sz="1700">
                <a:solidFill>
                  <a:srgbClr val="111827"/>
                </a:solidFill>
              </a:rPr>
              <a:t>Nhận xét: phân bố không đều, trong đó scratch và dent chiếm tỷ trọng lớn nhất. Đây là lý do cần phân tích theo từng lớp thay vì chỉ nhìn metric trung bình.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XGBoost dự đoán giá cơ sở</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Nhánh tabular học quan hệ giữa thuộc tính xe và giá thị trường.</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Bullets 7"/>
          <p:cNvSpPr txBox="1"/>
          <p:nvPr/>
        </p:nvSpPr>
        <p:spPr>
          <a:xfrm>
            <a:off x="731520" y="1234440"/>
            <a:ext cx="5303520" cy="2560320"/>
          </a:xfrm>
          <a:prstGeom prst="rect">
            <a:avLst/>
          </a:prstGeom>
          <a:noFill/>
          <a:ln>
            <a:noFill/>
          </a:ln>
        </p:spPr>
        <p:txBody>
          <a:bodyPr wrap="square" lIns="0" tIns="0" rIns="0" bIns="0"/>
          <a:lstStyle/>
          <a:p>
            <a:pPr marL="342900" indent="-171450">
              <a:buChar char="•"/>
            </a:pPr>
            <a:r>
              <a:rPr lang="vi-VN" sz="1800">
                <a:solidFill>
                  <a:srgbClr val="111827"/>
                </a:solidFill>
              </a:rPr>
              <a:t>Input: hãng xe, model, năm sản xuất, số km, nhiên liệu, hộp số, số chủ, dung tích, công suất...</a:t>
            </a:r>
          </a:p>
          <a:p>
            <a:pPr marL="342900" indent="-171450">
              <a:buChar char="•"/>
            </a:pPr>
            <a:r>
              <a:rPr lang="vi-VN" sz="1800">
                <a:solidFill>
                  <a:srgbClr val="111827"/>
                </a:solidFill>
              </a:rPr>
              <a:t>Tiền xử lý: làm sạch dữ liệu, chuẩn hóa feature, encode biến phân loại, tạo feature như tuổi xe và km/năm.</a:t>
            </a:r>
          </a:p>
          <a:p>
            <a:pPr marL="342900" indent="-171450">
              <a:buChar char="•"/>
            </a:pPr>
            <a:r>
              <a:rPr lang="vi-VN" sz="1800">
                <a:solidFill>
                  <a:srgbClr val="111827"/>
                </a:solidFill>
              </a:rPr>
              <a:t>So sánh baseline, Random Forest và XGBoost; chọn XGBoost làm mô hình chính.</a:t>
            </a:r>
          </a:p>
          <a:p>
            <a:pPr marL="342900" indent="-171450">
              <a:buChar char="•"/>
            </a:pPr>
            <a:r>
              <a:rPr lang="vi-VN" sz="1800">
                <a:solidFill>
                  <a:srgbClr val="111827"/>
                </a:solidFill>
              </a:rPr>
              <a:t>Checkpoint tích hợp: Models/model.pkl.</a:t>
            </a:r>
          </a:p>
        </p:txBody>
      </p:sp>
      <p:sp>
        <p:nvSpPr>
          <p:cNvPr id="8" name="Shape 8"/>
          <p:cNvSpPr/>
          <p:nvPr/>
        </p:nvSpPr>
        <p:spPr>
          <a:xfrm>
            <a:off x="6492240" y="1325880"/>
            <a:ext cx="2194560" cy="960120"/>
          </a:xfrm>
          <a:prstGeom prst="roundRect">
            <a:avLst/>
          </a:prstGeom>
          <a:solidFill>
            <a:srgbClr val="F8FAFC"/>
          </a:solidFill>
          <a:ln w="12700">
            <a:solidFill>
              <a:srgbClr val="CBD5E1"/>
            </a:solidFill>
          </a:ln>
        </p:spPr>
      </p:sp>
      <p:sp>
        <p:nvSpPr>
          <p:cNvPr id="9" name="Shape 9"/>
          <p:cNvSpPr/>
          <p:nvPr/>
        </p:nvSpPr>
        <p:spPr>
          <a:xfrm>
            <a:off x="6492240" y="1325880"/>
            <a:ext cx="73152" cy="960120"/>
          </a:xfrm>
          <a:prstGeom prst="rect">
            <a:avLst/>
          </a:prstGeom>
          <a:solidFill>
            <a:srgbClr val="2563EB"/>
          </a:solidFill>
          <a:ln>
            <a:noFill/>
          </a:ln>
        </p:spPr>
      </p:sp>
      <p:sp>
        <p:nvSpPr>
          <p:cNvPr id="10" name="TextBox 10"/>
          <p:cNvSpPr txBox="1"/>
          <p:nvPr/>
        </p:nvSpPr>
        <p:spPr>
          <a:xfrm>
            <a:off x="6656832" y="1435608"/>
            <a:ext cx="1920240" cy="228600"/>
          </a:xfrm>
          <a:prstGeom prst="rect">
            <a:avLst/>
          </a:prstGeom>
          <a:noFill/>
          <a:ln>
            <a:noFill/>
          </a:ln>
        </p:spPr>
        <p:txBody>
          <a:bodyPr wrap="square" lIns="91440" tIns="45720" rIns="91440" bIns="45720"/>
          <a:lstStyle/>
          <a:p>
            <a:r>
              <a:rPr lang="vi-VN" sz="1000">
                <a:solidFill>
                  <a:srgbClr val="64748B"/>
                </a:solidFill>
              </a:rPr>
              <a:t>Test R²</a:t>
            </a:r>
          </a:p>
        </p:txBody>
      </p:sp>
      <p:sp>
        <p:nvSpPr>
          <p:cNvPr id="11" name="TextBox 11"/>
          <p:cNvSpPr txBox="1"/>
          <p:nvPr/>
        </p:nvSpPr>
        <p:spPr>
          <a:xfrm>
            <a:off x="6656832" y="1709928"/>
            <a:ext cx="1920240" cy="411480"/>
          </a:xfrm>
          <a:prstGeom prst="rect">
            <a:avLst/>
          </a:prstGeom>
          <a:noFill/>
          <a:ln>
            <a:noFill/>
          </a:ln>
        </p:spPr>
        <p:txBody>
          <a:bodyPr wrap="square" lIns="91440" tIns="45720" rIns="91440" bIns="45720"/>
          <a:lstStyle/>
          <a:p>
            <a:r>
              <a:rPr lang="vi-VN" sz="2200" b="1">
                <a:solidFill>
                  <a:srgbClr val="0F172A"/>
                </a:solidFill>
              </a:rPr>
              <a:t>≈ 0,9367</a:t>
            </a:r>
          </a:p>
        </p:txBody>
      </p:sp>
      <p:sp>
        <p:nvSpPr>
          <p:cNvPr id="12" name="Shape 12"/>
          <p:cNvSpPr/>
          <p:nvPr/>
        </p:nvSpPr>
        <p:spPr>
          <a:xfrm>
            <a:off x="9006840" y="1325880"/>
            <a:ext cx="2194560" cy="960120"/>
          </a:xfrm>
          <a:prstGeom prst="roundRect">
            <a:avLst/>
          </a:prstGeom>
          <a:solidFill>
            <a:srgbClr val="F8FAFC"/>
          </a:solidFill>
          <a:ln w="12700">
            <a:solidFill>
              <a:srgbClr val="CBD5E1"/>
            </a:solidFill>
          </a:ln>
        </p:spPr>
      </p:sp>
      <p:sp>
        <p:nvSpPr>
          <p:cNvPr id="13" name="Shape 13"/>
          <p:cNvSpPr/>
          <p:nvPr/>
        </p:nvSpPr>
        <p:spPr>
          <a:xfrm>
            <a:off x="9006840" y="1325880"/>
            <a:ext cx="73152" cy="960120"/>
          </a:xfrm>
          <a:prstGeom prst="rect">
            <a:avLst/>
          </a:prstGeom>
          <a:solidFill>
            <a:srgbClr val="2563EB"/>
          </a:solidFill>
          <a:ln>
            <a:noFill/>
          </a:ln>
        </p:spPr>
      </p:sp>
      <p:sp>
        <p:nvSpPr>
          <p:cNvPr id="14" name="TextBox 14"/>
          <p:cNvSpPr txBox="1"/>
          <p:nvPr/>
        </p:nvSpPr>
        <p:spPr>
          <a:xfrm>
            <a:off x="9171432" y="1435608"/>
            <a:ext cx="1920240" cy="228600"/>
          </a:xfrm>
          <a:prstGeom prst="rect">
            <a:avLst/>
          </a:prstGeom>
          <a:noFill/>
          <a:ln>
            <a:noFill/>
          </a:ln>
        </p:spPr>
        <p:txBody>
          <a:bodyPr wrap="square" lIns="91440" tIns="45720" rIns="91440" bIns="45720"/>
          <a:lstStyle/>
          <a:p>
            <a:r>
              <a:rPr lang="vi-VN" sz="1000">
                <a:solidFill>
                  <a:srgbClr val="64748B"/>
                </a:solidFill>
              </a:rPr>
              <a:t>RMSE</a:t>
            </a:r>
          </a:p>
        </p:txBody>
      </p:sp>
      <p:sp>
        <p:nvSpPr>
          <p:cNvPr id="15" name="TextBox 15"/>
          <p:cNvSpPr txBox="1"/>
          <p:nvPr/>
        </p:nvSpPr>
        <p:spPr>
          <a:xfrm>
            <a:off x="9171432" y="1709928"/>
            <a:ext cx="1920240" cy="411480"/>
          </a:xfrm>
          <a:prstGeom prst="rect">
            <a:avLst/>
          </a:prstGeom>
          <a:noFill/>
          <a:ln>
            <a:noFill/>
          </a:ln>
        </p:spPr>
        <p:txBody>
          <a:bodyPr wrap="square" lIns="91440" tIns="45720" rIns="91440" bIns="45720"/>
          <a:lstStyle/>
          <a:p>
            <a:r>
              <a:rPr lang="vi-VN" sz="2200" b="1">
                <a:solidFill>
                  <a:srgbClr val="0F172A"/>
                </a:solidFill>
              </a:rPr>
              <a:t>≈ 1,4313</a:t>
            </a:r>
          </a:p>
        </p:txBody>
      </p:sp>
      <p:sp>
        <p:nvSpPr>
          <p:cNvPr id="16" name="Shape 16"/>
          <p:cNvSpPr/>
          <p:nvPr/>
        </p:nvSpPr>
        <p:spPr>
          <a:xfrm>
            <a:off x="6492240" y="2606040"/>
            <a:ext cx="2194560" cy="960120"/>
          </a:xfrm>
          <a:prstGeom prst="roundRect">
            <a:avLst/>
          </a:prstGeom>
          <a:solidFill>
            <a:srgbClr val="F8FAFC"/>
          </a:solidFill>
          <a:ln w="12700">
            <a:solidFill>
              <a:srgbClr val="CBD5E1"/>
            </a:solidFill>
          </a:ln>
        </p:spPr>
      </p:sp>
      <p:sp>
        <p:nvSpPr>
          <p:cNvPr id="17" name="Shape 17"/>
          <p:cNvSpPr/>
          <p:nvPr/>
        </p:nvSpPr>
        <p:spPr>
          <a:xfrm>
            <a:off x="6492240" y="2606040"/>
            <a:ext cx="73152" cy="960120"/>
          </a:xfrm>
          <a:prstGeom prst="rect">
            <a:avLst/>
          </a:prstGeom>
          <a:solidFill>
            <a:srgbClr val="2563EB"/>
          </a:solidFill>
          <a:ln>
            <a:noFill/>
          </a:ln>
        </p:spPr>
      </p:sp>
      <p:sp>
        <p:nvSpPr>
          <p:cNvPr id="18" name="TextBox 18"/>
          <p:cNvSpPr txBox="1"/>
          <p:nvPr/>
        </p:nvSpPr>
        <p:spPr>
          <a:xfrm>
            <a:off x="6656832" y="2715768"/>
            <a:ext cx="1920240" cy="228600"/>
          </a:xfrm>
          <a:prstGeom prst="rect">
            <a:avLst/>
          </a:prstGeom>
          <a:noFill/>
          <a:ln>
            <a:noFill/>
          </a:ln>
        </p:spPr>
        <p:txBody>
          <a:bodyPr wrap="square" lIns="91440" tIns="45720" rIns="91440" bIns="45720"/>
          <a:lstStyle/>
          <a:p>
            <a:r>
              <a:rPr lang="vi-VN" sz="1000">
                <a:solidFill>
                  <a:srgbClr val="64748B"/>
                </a:solidFill>
              </a:rPr>
              <a:t>MAE</a:t>
            </a:r>
          </a:p>
        </p:txBody>
      </p:sp>
      <p:sp>
        <p:nvSpPr>
          <p:cNvPr id="19" name="TextBox 19"/>
          <p:cNvSpPr txBox="1"/>
          <p:nvPr/>
        </p:nvSpPr>
        <p:spPr>
          <a:xfrm>
            <a:off x="6656832" y="2990088"/>
            <a:ext cx="1920240" cy="411480"/>
          </a:xfrm>
          <a:prstGeom prst="rect">
            <a:avLst/>
          </a:prstGeom>
          <a:noFill/>
          <a:ln>
            <a:noFill/>
          </a:ln>
        </p:spPr>
        <p:txBody>
          <a:bodyPr wrap="square" lIns="91440" tIns="45720" rIns="91440" bIns="45720"/>
          <a:lstStyle/>
          <a:p>
            <a:r>
              <a:rPr lang="vi-VN" sz="2200" b="1">
                <a:solidFill>
                  <a:srgbClr val="0F172A"/>
                </a:solidFill>
              </a:rPr>
              <a:t>≈ 0,8914</a:t>
            </a:r>
          </a:p>
        </p:txBody>
      </p:sp>
      <p:sp>
        <p:nvSpPr>
          <p:cNvPr id="20" name="Shape 20"/>
          <p:cNvSpPr/>
          <p:nvPr/>
        </p:nvSpPr>
        <p:spPr>
          <a:xfrm>
            <a:off x="9006840" y="2606040"/>
            <a:ext cx="2194560" cy="960120"/>
          </a:xfrm>
          <a:prstGeom prst="roundRect">
            <a:avLst/>
          </a:prstGeom>
          <a:solidFill>
            <a:srgbClr val="F8FAFC"/>
          </a:solidFill>
          <a:ln w="12700">
            <a:solidFill>
              <a:srgbClr val="CBD5E1"/>
            </a:solidFill>
          </a:ln>
        </p:spPr>
      </p:sp>
      <p:sp>
        <p:nvSpPr>
          <p:cNvPr id="21" name="Shape 21"/>
          <p:cNvSpPr/>
          <p:nvPr/>
        </p:nvSpPr>
        <p:spPr>
          <a:xfrm>
            <a:off x="9006840" y="2606040"/>
            <a:ext cx="73152" cy="960120"/>
          </a:xfrm>
          <a:prstGeom prst="rect">
            <a:avLst/>
          </a:prstGeom>
          <a:solidFill>
            <a:srgbClr val="2563EB"/>
          </a:solidFill>
          <a:ln>
            <a:noFill/>
          </a:ln>
        </p:spPr>
      </p:sp>
      <p:sp>
        <p:nvSpPr>
          <p:cNvPr id="22" name="TextBox 22"/>
          <p:cNvSpPr txBox="1"/>
          <p:nvPr/>
        </p:nvSpPr>
        <p:spPr>
          <a:xfrm>
            <a:off x="9171432" y="2715768"/>
            <a:ext cx="1920240" cy="228600"/>
          </a:xfrm>
          <a:prstGeom prst="rect">
            <a:avLst/>
          </a:prstGeom>
          <a:noFill/>
          <a:ln>
            <a:noFill/>
          </a:ln>
        </p:spPr>
        <p:txBody>
          <a:bodyPr wrap="square" lIns="91440" tIns="45720" rIns="91440" bIns="45720"/>
          <a:lstStyle/>
          <a:p>
            <a:r>
              <a:rPr lang="vi-VN" sz="1000">
                <a:solidFill>
                  <a:srgbClr val="64748B"/>
                </a:solidFill>
              </a:rPr>
              <a:t>Mô hình</a:t>
            </a:r>
          </a:p>
        </p:txBody>
      </p:sp>
      <p:sp>
        <p:nvSpPr>
          <p:cNvPr id="23" name="TextBox 23"/>
          <p:cNvSpPr txBox="1"/>
          <p:nvPr/>
        </p:nvSpPr>
        <p:spPr>
          <a:xfrm>
            <a:off x="9171432" y="2990088"/>
            <a:ext cx="1920240" cy="411480"/>
          </a:xfrm>
          <a:prstGeom prst="rect">
            <a:avLst/>
          </a:prstGeom>
          <a:noFill/>
          <a:ln>
            <a:noFill/>
          </a:ln>
        </p:spPr>
        <p:txBody>
          <a:bodyPr wrap="square" lIns="91440" tIns="45720" rIns="91440" bIns="45720"/>
          <a:lstStyle/>
          <a:p>
            <a:r>
              <a:rPr lang="vi-VN" sz="2200" b="1">
                <a:solidFill>
                  <a:srgbClr val="0F172A"/>
                </a:solidFill>
              </a:rPr>
              <a:t>XGBoost</a:t>
            </a:r>
          </a:p>
        </p:txBody>
      </p:sp>
      <p:sp>
        <p:nvSpPr>
          <p:cNvPr id="24" name="TextBox 24"/>
          <p:cNvSpPr txBox="1"/>
          <p:nvPr/>
        </p:nvSpPr>
        <p:spPr>
          <a:xfrm>
            <a:off x="6583680" y="4069080"/>
            <a:ext cx="4389120" cy="731520"/>
          </a:xfrm>
          <a:prstGeom prst="roundRect">
            <a:avLst/>
          </a:prstGeom>
          <a:solidFill>
            <a:srgbClr val="EFF6FF"/>
          </a:solidFill>
          <a:ln w="12700">
            <a:solidFill>
              <a:srgbClr val="BFDBFE"/>
            </a:solidFill>
          </a:ln>
        </p:spPr>
        <p:txBody>
          <a:bodyPr wrap="square" lIns="91440" tIns="45720" rIns="91440" bIns="45720"/>
          <a:lstStyle/>
          <a:p>
            <a:r>
              <a:rPr lang="vi-VN" sz="1700">
                <a:solidFill>
                  <a:srgbClr val="111827"/>
                </a:solidFill>
              </a:rPr>
              <a:t>Giá XGBoost là base price. Khi không upload ảnh, hệ thống dùng base price làm giá cuối cùng.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YOLOv8s phát hiện hư hỏng</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Mô hình detection chính: YOLOv8s train trên merge_Data.</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pic>
        <p:nvPicPr>
          <p:cNvPr id="7" name="val_batch0_pred.jpg"/>
          <p:cNvPicPr>
            <a:picLocks noChangeAspect="1"/>
          </p:cNvPicPr>
          <p:nvPr/>
        </p:nvPicPr>
        <p:blipFill>
          <a:blip r:embed="rIdImg1"/>
          <a:stretch>
            <a:fillRect/>
          </a:stretch>
        </p:blipFill>
        <p:spPr>
          <a:xfrm>
            <a:off x="594360" y="1143000"/>
            <a:ext cx="5212080" cy="2926080"/>
          </a:xfrm>
          <a:prstGeom prst="rect">
            <a:avLst/>
          </a:prstGeom>
        </p:spPr>
      </p:pic>
      <p:sp>
        <p:nvSpPr>
          <p:cNvPr id="8" name="Bullets 8"/>
          <p:cNvSpPr txBox="1"/>
          <p:nvPr/>
        </p:nvSpPr>
        <p:spPr>
          <a:xfrm>
            <a:off x="6080760" y="1234440"/>
            <a:ext cx="5303520" cy="2240280"/>
          </a:xfrm>
          <a:prstGeom prst="rect">
            <a:avLst/>
          </a:prstGeom>
          <a:noFill/>
          <a:ln>
            <a:noFill/>
          </a:ln>
        </p:spPr>
        <p:txBody>
          <a:bodyPr wrap="square" lIns="0" tIns="0" rIns="0" bIns="0"/>
          <a:lstStyle/>
          <a:p>
            <a:pPr marL="342900" indent="-171450">
              <a:buChar char="•"/>
            </a:pPr>
            <a:r>
              <a:rPr lang="vi-VN" sz="1800">
                <a:solidFill>
                  <a:srgbClr val="111827"/>
                </a:solidFill>
              </a:rPr>
              <a:t>6 lớp: crack, dent, glass_broken, lamp_broken, scratch, tire_flat.</a:t>
            </a:r>
          </a:p>
          <a:p>
            <a:pPr marL="342900" indent="-171450">
              <a:buChar char="•"/>
            </a:pPr>
            <a:r>
              <a:rPr lang="vi-VN" sz="1800">
                <a:solidFill>
                  <a:srgbClr val="111827"/>
                </a:solidFill>
              </a:rPr>
              <a:t>Dataset cuối: merge_Data, tập trung bổ sung crack/scratch/dent.</a:t>
            </a:r>
          </a:p>
          <a:p>
            <a:pPr marL="342900" indent="-171450">
              <a:buChar char="•"/>
            </a:pPr>
            <a:r>
              <a:rPr lang="vi-VN" sz="1800">
                <a:solidFill>
                  <a:srgbClr val="111827"/>
                </a:solidFill>
              </a:rPr>
              <a:t>Cấu hình chính: epochs=100, batch=16, imgsz=640.</a:t>
            </a:r>
          </a:p>
          <a:p>
            <a:pPr marL="342900" indent="-171450">
              <a:buChar char="•"/>
            </a:pPr>
            <a:r>
              <a:rPr lang="vi-VN" sz="1800">
                <a:solidFill>
                  <a:srgbClr val="111827"/>
                </a:solidFill>
              </a:rPr>
              <a:t>Checkpoint tích hợp: Models/best.pt.</a:t>
            </a:r>
          </a:p>
        </p:txBody>
      </p:sp>
      <p:sp>
        <p:nvSpPr>
          <p:cNvPr id="9" name="Shape 9"/>
          <p:cNvSpPr/>
          <p:nvPr/>
        </p:nvSpPr>
        <p:spPr>
          <a:xfrm>
            <a:off x="6263640" y="3977640"/>
            <a:ext cx="2148840" cy="960120"/>
          </a:xfrm>
          <a:prstGeom prst="roundRect">
            <a:avLst/>
          </a:prstGeom>
          <a:solidFill>
            <a:srgbClr val="F8FAFC"/>
          </a:solidFill>
          <a:ln w="12700">
            <a:solidFill>
              <a:srgbClr val="CBD5E1"/>
            </a:solidFill>
          </a:ln>
        </p:spPr>
      </p:sp>
      <p:sp>
        <p:nvSpPr>
          <p:cNvPr id="10" name="Shape 10"/>
          <p:cNvSpPr/>
          <p:nvPr/>
        </p:nvSpPr>
        <p:spPr>
          <a:xfrm>
            <a:off x="6263640" y="3977640"/>
            <a:ext cx="73152" cy="960120"/>
          </a:xfrm>
          <a:prstGeom prst="rect">
            <a:avLst/>
          </a:prstGeom>
          <a:solidFill>
            <a:srgbClr val="EF4444"/>
          </a:solidFill>
          <a:ln>
            <a:noFill/>
          </a:ln>
        </p:spPr>
      </p:sp>
      <p:sp>
        <p:nvSpPr>
          <p:cNvPr id="11" name="TextBox 11"/>
          <p:cNvSpPr txBox="1"/>
          <p:nvPr/>
        </p:nvSpPr>
        <p:spPr>
          <a:xfrm>
            <a:off x="6428232" y="4087368"/>
            <a:ext cx="1874520" cy="228600"/>
          </a:xfrm>
          <a:prstGeom prst="rect">
            <a:avLst/>
          </a:prstGeom>
          <a:noFill/>
          <a:ln>
            <a:noFill/>
          </a:ln>
        </p:spPr>
        <p:txBody>
          <a:bodyPr wrap="square" lIns="91440" tIns="45720" rIns="91440" bIns="45720"/>
          <a:lstStyle/>
          <a:p>
            <a:r>
              <a:rPr lang="vi-VN" sz="1000">
                <a:solidFill>
                  <a:srgbClr val="64748B"/>
                </a:solidFill>
              </a:rPr>
              <a:t>Precision</a:t>
            </a:r>
          </a:p>
        </p:txBody>
      </p:sp>
      <p:sp>
        <p:nvSpPr>
          <p:cNvPr id="12" name="TextBox 12"/>
          <p:cNvSpPr txBox="1"/>
          <p:nvPr/>
        </p:nvSpPr>
        <p:spPr>
          <a:xfrm>
            <a:off x="6428232" y="4361688"/>
            <a:ext cx="1874520" cy="411480"/>
          </a:xfrm>
          <a:prstGeom prst="rect">
            <a:avLst/>
          </a:prstGeom>
          <a:noFill/>
          <a:ln>
            <a:noFill/>
          </a:ln>
        </p:spPr>
        <p:txBody>
          <a:bodyPr wrap="square" lIns="91440" tIns="45720" rIns="91440" bIns="45720"/>
          <a:lstStyle/>
          <a:p>
            <a:r>
              <a:rPr lang="vi-VN" sz="2200" b="1">
                <a:solidFill>
                  <a:srgbClr val="0F172A"/>
                </a:solidFill>
              </a:rPr>
              <a:t>0,801</a:t>
            </a:r>
          </a:p>
        </p:txBody>
      </p:sp>
      <p:sp>
        <p:nvSpPr>
          <p:cNvPr id="13" name="Shape 13"/>
          <p:cNvSpPr/>
          <p:nvPr/>
        </p:nvSpPr>
        <p:spPr>
          <a:xfrm>
            <a:off x="8641080" y="3977640"/>
            <a:ext cx="2148840" cy="960120"/>
          </a:xfrm>
          <a:prstGeom prst="roundRect">
            <a:avLst/>
          </a:prstGeom>
          <a:solidFill>
            <a:srgbClr val="F8FAFC"/>
          </a:solidFill>
          <a:ln w="12700">
            <a:solidFill>
              <a:srgbClr val="CBD5E1"/>
            </a:solidFill>
          </a:ln>
        </p:spPr>
      </p:sp>
      <p:sp>
        <p:nvSpPr>
          <p:cNvPr id="14" name="Shape 14"/>
          <p:cNvSpPr/>
          <p:nvPr/>
        </p:nvSpPr>
        <p:spPr>
          <a:xfrm>
            <a:off x="8641080" y="3977640"/>
            <a:ext cx="73152" cy="960120"/>
          </a:xfrm>
          <a:prstGeom prst="rect">
            <a:avLst/>
          </a:prstGeom>
          <a:solidFill>
            <a:srgbClr val="EF4444"/>
          </a:solidFill>
          <a:ln>
            <a:noFill/>
          </a:ln>
        </p:spPr>
      </p:sp>
      <p:sp>
        <p:nvSpPr>
          <p:cNvPr id="15" name="TextBox 15"/>
          <p:cNvSpPr txBox="1"/>
          <p:nvPr/>
        </p:nvSpPr>
        <p:spPr>
          <a:xfrm>
            <a:off x="8805672" y="4087368"/>
            <a:ext cx="1874520" cy="228600"/>
          </a:xfrm>
          <a:prstGeom prst="rect">
            <a:avLst/>
          </a:prstGeom>
          <a:noFill/>
          <a:ln>
            <a:noFill/>
          </a:ln>
        </p:spPr>
        <p:txBody>
          <a:bodyPr wrap="square" lIns="91440" tIns="45720" rIns="91440" bIns="45720"/>
          <a:lstStyle/>
          <a:p>
            <a:r>
              <a:rPr lang="vi-VN" sz="1000">
                <a:solidFill>
                  <a:srgbClr val="64748B"/>
                </a:solidFill>
              </a:rPr>
              <a:t>Recall</a:t>
            </a:r>
          </a:p>
        </p:txBody>
      </p:sp>
      <p:sp>
        <p:nvSpPr>
          <p:cNvPr id="16" name="TextBox 16"/>
          <p:cNvSpPr txBox="1"/>
          <p:nvPr/>
        </p:nvSpPr>
        <p:spPr>
          <a:xfrm>
            <a:off x="8805672" y="4361688"/>
            <a:ext cx="1874520" cy="411480"/>
          </a:xfrm>
          <a:prstGeom prst="rect">
            <a:avLst/>
          </a:prstGeom>
          <a:noFill/>
          <a:ln>
            <a:noFill/>
          </a:ln>
        </p:spPr>
        <p:txBody>
          <a:bodyPr wrap="square" lIns="91440" tIns="45720" rIns="91440" bIns="45720"/>
          <a:lstStyle/>
          <a:p>
            <a:r>
              <a:rPr lang="vi-VN" sz="2200" b="1">
                <a:solidFill>
                  <a:srgbClr val="0F172A"/>
                </a:solidFill>
              </a:rPr>
              <a:t>0,682</a:t>
            </a:r>
          </a:p>
        </p:txBody>
      </p:sp>
      <p:sp>
        <p:nvSpPr>
          <p:cNvPr id="17" name="Shape 17"/>
          <p:cNvSpPr/>
          <p:nvPr/>
        </p:nvSpPr>
        <p:spPr>
          <a:xfrm>
            <a:off x="6263640" y="5166360"/>
            <a:ext cx="2148840" cy="960120"/>
          </a:xfrm>
          <a:prstGeom prst="roundRect">
            <a:avLst/>
          </a:prstGeom>
          <a:solidFill>
            <a:srgbClr val="F8FAFC"/>
          </a:solidFill>
          <a:ln w="12700">
            <a:solidFill>
              <a:srgbClr val="CBD5E1"/>
            </a:solidFill>
          </a:ln>
        </p:spPr>
      </p:sp>
      <p:sp>
        <p:nvSpPr>
          <p:cNvPr id="18" name="Shape 18"/>
          <p:cNvSpPr/>
          <p:nvPr/>
        </p:nvSpPr>
        <p:spPr>
          <a:xfrm>
            <a:off x="6263640" y="5166360"/>
            <a:ext cx="73152" cy="960120"/>
          </a:xfrm>
          <a:prstGeom prst="rect">
            <a:avLst/>
          </a:prstGeom>
          <a:solidFill>
            <a:srgbClr val="EF4444"/>
          </a:solidFill>
          <a:ln>
            <a:noFill/>
          </a:ln>
        </p:spPr>
      </p:sp>
      <p:sp>
        <p:nvSpPr>
          <p:cNvPr id="19" name="TextBox 19"/>
          <p:cNvSpPr txBox="1"/>
          <p:nvPr/>
        </p:nvSpPr>
        <p:spPr>
          <a:xfrm>
            <a:off x="6428232" y="5276088"/>
            <a:ext cx="1874520" cy="228600"/>
          </a:xfrm>
          <a:prstGeom prst="rect">
            <a:avLst/>
          </a:prstGeom>
          <a:noFill/>
          <a:ln>
            <a:noFill/>
          </a:ln>
        </p:spPr>
        <p:txBody>
          <a:bodyPr wrap="square" lIns="91440" tIns="45720" rIns="91440" bIns="45720"/>
          <a:lstStyle/>
          <a:p>
            <a:r>
              <a:rPr lang="vi-VN" sz="1000">
                <a:solidFill>
                  <a:srgbClr val="64748B"/>
                </a:solidFill>
              </a:rPr>
              <a:t>mAP@0.5</a:t>
            </a:r>
          </a:p>
        </p:txBody>
      </p:sp>
      <p:sp>
        <p:nvSpPr>
          <p:cNvPr id="20" name="TextBox 20"/>
          <p:cNvSpPr txBox="1"/>
          <p:nvPr/>
        </p:nvSpPr>
        <p:spPr>
          <a:xfrm>
            <a:off x="6428232" y="5550408"/>
            <a:ext cx="1874520" cy="411480"/>
          </a:xfrm>
          <a:prstGeom prst="rect">
            <a:avLst/>
          </a:prstGeom>
          <a:noFill/>
          <a:ln>
            <a:noFill/>
          </a:ln>
        </p:spPr>
        <p:txBody>
          <a:bodyPr wrap="square" lIns="91440" tIns="45720" rIns="91440" bIns="45720"/>
          <a:lstStyle/>
          <a:p>
            <a:r>
              <a:rPr lang="vi-VN" sz="2200" b="1">
                <a:solidFill>
                  <a:srgbClr val="0F172A"/>
                </a:solidFill>
              </a:rPr>
              <a:t>0,726</a:t>
            </a:r>
          </a:p>
        </p:txBody>
      </p:sp>
      <p:sp>
        <p:nvSpPr>
          <p:cNvPr id="21" name="Shape 21"/>
          <p:cNvSpPr/>
          <p:nvPr/>
        </p:nvSpPr>
        <p:spPr>
          <a:xfrm>
            <a:off x="8641080" y="5166360"/>
            <a:ext cx="2148840" cy="960120"/>
          </a:xfrm>
          <a:prstGeom prst="roundRect">
            <a:avLst/>
          </a:prstGeom>
          <a:solidFill>
            <a:srgbClr val="F8FAFC"/>
          </a:solidFill>
          <a:ln w="12700">
            <a:solidFill>
              <a:srgbClr val="CBD5E1"/>
            </a:solidFill>
          </a:ln>
        </p:spPr>
      </p:sp>
      <p:sp>
        <p:nvSpPr>
          <p:cNvPr id="22" name="Shape 22"/>
          <p:cNvSpPr/>
          <p:nvPr/>
        </p:nvSpPr>
        <p:spPr>
          <a:xfrm>
            <a:off x="8641080" y="5166360"/>
            <a:ext cx="73152" cy="960120"/>
          </a:xfrm>
          <a:prstGeom prst="rect">
            <a:avLst/>
          </a:prstGeom>
          <a:solidFill>
            <a:srgbClr val="EF4444"/>
          </a:solidFill>
          <a:ln>
            <a:noFill/>
          </a:ln>
        </p:spPr>
      </p:sp>
      <p:sp>
        <p:nvSpPr>
          <p:cNvPr id="23" name="TextBox 23"/>
          <p:cNvSpPr txBox="1"/>
          <p:nvPr/>
        </p:nvSpPr>
        <p:spPr>
          <a:xfrm>
            <a:off x="8805672" y="5276088"/>
            <a:ext cx="1874520" cy="228600"/>
          </a:xfrm>
          <a:prstGeom prst="rect">
            <a:avLst/>
          </a:prstGeom>
          <a:noFill/>
          <a:ln>
            <a:noFill/>
          </a:ln>
        </p:spPr>
        <p:txBody>
          <a:bodyPr wrap="square" lIns="91440" tIns="45720" rIns="91440" bIns="45720"/>
          <a:lstStyle/>
          <a:p>
            <a:r>
              <a:rPr lang="vi-VN" sz="1000">
                <a:solidFill>
                  <a:srgbClr val="64748B"/>
                </a:solidFill>
              </a:rPr>
              <a:t>mAP@0.5:0.95</a:t>
            </a:r>
          </a:p>
        </p:txBody>
      </p:sp>
      <p:sp>
        <p:nvSpPr>
          <p:cNvPr id="24" name="TextBox 24"/>
          <p:cNvSpPr txBox="1"/>
          <p:nvPr/>
        </p:nvSpPr>
        <p:spPr>
          <a:xfrm>
            <a:off x="8805672" y="5550408"/>
            <a:ext cx="1874520" cy="411480"/>
          </a:xfrm>
          <a:prstGeom prst="rect">
            <a:avLst/>
          </a:prstGeom>
          <a:noFill/>
          <a:ln>
            <a:noFill/>
          </a:ln>
        </p:spPr>
        <p:txBody>
          <a:bodyPr wrap="square" lIns="91440" tIns="45720" rIns="91440" bIns="45720"/>
          <a:lstStyle/>
          <a:p>
            <a:r>
              <a:rPr lang="vi-VN" sz="2200" b="1">
                <a:solidFill>
                  <a:srgbClr val="0F172A"/>
                </a:solidFill>
              </a:rPr>
              <a:t>0,568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Data augmentation khi train YOLO</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Ultralytics áp dụng augmentation online trong model.train().</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685800" y="1143000"/>
            <a:ext cx="1828800" cy="502920"/>
          </a:xfrm>
          <a:prstGeom prst="rect">
            <a:avLst/>
          </a:prstGeom>
          <a:solidFill>
            <a:srgbClr val="F1F5F9"/>
          </a:solidFill>
          <a:ln w="12700">
            <a:solidFill>
              <a:srgbClr val="E2E8F0"/>
            </a:solidFill>
          </a:ln>
        </p:spPr>
      </p:sp>
      <p:sp>
        <p:nvSpPr>
          <p:cNvPr id="8" name="TextBox 8"/>
          <p:cNvSpPr txBox="1"/>
          <p:nvPr/>
        </p:nvSpPr>
        <p:spPr>
          <a:xfrm>
            <a:off x="722376" y="1207008"/>
            <a:ext cx="1755648" cy="429768"/>
          </a:xfrm>
          <a:prstGeom prst="rect">
            <a:avLst/>
          </a:prstGeom>
          <a:noFill/>
          <a:ln>
            <a:noFill/>
          </a:ln>
        </p:spPr>
        <p:txBody>
          <a:bodyPr wrap="square" lIns="91440" tIns="45720" rIns="91440" bIns="45720"/>
          <a:lstStyle/>
          <a:p>
            <a:r>
              <a:rPr lang="vi-VN" sz="1100" b="1">
                <a:solidFill>
                  <a:srgbClr val="0F172A"/>
                </a:solidFill>
              </a:rPr>
              <a:t>Tham số</a:t>
            </a:r>
          </a:p>
        </p:txBody>
      </p:sp>
      <p:sp>
        <p:nvSpPr>
          <p:cNvPr id="9" name="Shape 9"/>
          <p:cNvSpPr/>
          <p:nvPr/>
        </p:nvSpPr>
        <p:spPr>
          <a:xfrm>
            <a:off x="2514600" y="1143000"/>
            <a:ext cx="2194560" cy="502920"/>
          </a:xfrm>
          <a:prstGeom prst="rect">
            <a:avLst/>
          </a:prstGeom>
          <a:solidFill>
            <a:srgbClr val="F1F5F9"/>
          </a:solidFill>
          <a:ln w="12700">
            <a:solidFill>
              <a:srgbClr val="E2E8F0"/>
            </a:solidFill>
          </a:ln>
        </p:spPr>
      </p:sp>
      <p:sp>
        <p:nvSpPr>
          <p:cNvPr id="10" name="TextBox 10"/>
          <p:cNvSpPr txBox="1"/>
          <p:nvPr/>
        </p:nvSpPr>
        <p:spPr>
          <a:xfrm>
            <a:off x="2551176" y="1207008"/>
            <a:ext cx="2121408" cy="429768"/>
          </a:xfrm>
          <a:prstGeom prst="rect">
            <a:avLst/>
          </a:prstGeom>
          <a:noFill/>
          <a:ln>
            <a:noFill/>
          </a:ln>
        </p:spPr>
        <p:txBody>
          <a:bodyPr wrap="square" lIns="91440" tIns="45720" rIns="91440" bIns="45720"/>
          <a:lstStyle/>
          <a:p>
            <a:r>
              <a:rPr lang="vi-VN" sz="1100" b="1">
                <a:solidFill>
                  <a:srgbClr val="0F172A"/>
                </a:solidFill>
              </a:rPr>
              <a:t>Giá trị</a:t>
            </a:r>
          </a:p>
        </p:txBody>
      </p:sp>
      <p:sp>
        <p:nvSpPr>
          <p:cNvPr id="11" name="Shape 11"/>
          <p:cNvSpPr/>
          <p:nvPr/>
        </p:nvSpPr>
        <p:spPr>
          <a:xfrm>
            <a:off x="4709160" y="1143000"/>
            <a:ext cx="6126480" cy="502920"/>
          </a:xfrm>
          <a:prstGeom prst="rect">
            <a:avLst/>
          </a:prstGeom>
          <a:solidFill>
            <a:srgbClr val="F1F5F9"/>
          </a:solidFill>
          <a:ln w="12700">
            <a:solidFill>
              <a:srgbClr val="E2E8F0"/>
            </a:solidFill>
          </a:ln>
        </p:spPr>
      </p:sp>
      <p:sp>
        <p:nvSpPr>
          <p:cNvPr id="12" name="TextBox 12"/>
          <p:cNvSpPr txBox="1"/>
          <p:nvPr/>
        </p:nvSpPr>
        <p:spPr>
          <a:xfrm>
            <a:off x="4745736" y="1207008"/>
            <a:ext cx="6053328" cy="429768"/>
          </a:xfrm>
          <a:prstGeom prst="rect">
            <a:avLst/>
          </a:prstGeom>
          <a:noFill/>
          <a:ln>
            <a:noFill/>
          </a:ln>
        </p:spPr>
        <p:txBody>
          <a:bodyPr wrap="square" lIns="91440" tIns="45720" rIns="91440" bIns="45720"/>
          <a:lstStyle/>
          <a:p>
            <a:r>
              <a:rPr lang="vi-VN" sz="1100" b="1">
                <a:solidFill>
                  <a:srgbClr val="0F172A"/>
                </a:solidFill>
              </a:rPr>
              <a:t>Ý nghĩa</a:t>
            </a:r>
          </a:p>
        </p:txBody>
      </p:sp>
      <p:sp>
        <p:nvSpPr>
          <p:cNvPr id="13" name="Shape 13"/>
          <p:cNvSpPr/>
          <p:nvPr/>
        </p:nvSpPr>
        <p:spPr>
          <a:xfrm>
            <a:off x="685800" y="1645920"/>
            <a:ext cx="1828800" cy="502920"/>
          </a:xfrm>
          <a:prstGeom prst="rect">
            <a:avLst/>
          </a:prstGeom>
          <a:solidFill>
            <a:srgbClr val="FFFFFF"/>
          </a:solidFill>
          <a:ln w="12700">
            <a:solidFill>
              <a:srgbClr val="E2E8F0"/>
            </a:solidFill>
          </a:ln>
        </p:spPr>
      </p:sp>
      <p:sp>
        <p:nvSpPr>
          <p:cNvPr id="14" name="TextBox 14"/>
          <p:cNvSpPr txBox="1"/>
          <p:nvPr/>
        </p:nvSpPr>
        <p:spPr>
          <a:xfrm>
            <a:off x="722376" y="1709928"/>
            <a:ext cx="1755648" cy="429768"/>
          </a:xfrm>
          <a:prstGeom prst="rect">
            <a:avLst/>
          </a:prstGeom>
          <a:noFill/>
          <a:ln>
            <a:noFill/>
          </a:ln>
        </p:spPr>
        <p:txBody>
          <a:bodyPr wrap="square" lIns="91440" tIns="45720" rIns="91440" bIns="45720"/>
          <a:lstStyle/>
          <a:p>
            <a:r>
              <a:rPr lang="vi-VN" sz="1000">
                <a:solidFill>
                  <a:srgbClr val="0F172A"/>
                </a:solidFill>
              </a:rPr>
              <a:t>hsv_h/s/v</a:t>
            </a:r>
          </a:p>
        </p:txBody>
      </p:sp>
      <p:sp>
        <p:nvSpPr>
          <p:cNvPr id="15" name="Shape 15"/>
          <p:cNvSpPr/>
          <p:nvPr/>
        </p:nvSpPr>
        <p:spPr>
          <a:xfrm>
            <a:off x="2514600" y="1645920"/>
            <a:ext cx="2194560" cy="502920"/>
          </a:xfrm>
          <a:prstGeom prst="rect">
            <a:avLst/>
          </a:prstGeom>
          <a:solidFill>
            <a:srgbClr val="FFFFFF"/>
          </a:solidFill>
          <a:ln w="12700">
            <a:solidFill>
              <a:srgbClr val="E2E8F0"/>
            </a:solidFill>
          </a:ln>
        </p:spPr>
      </p:sp>
      <p:sp>
        <p:nvSpPr>
          <p:cNvPr id="16" name="TextBox 16"/>
          <p:cNvSpPr txBox="1"/>
          <p:nvPr/>
        </p:nvSpPr>
        <p:spPr>
          <a:xfrm>
            <a:off x="2551176" y="1709928"/>
            <a:ext cx="2121408" cy="429768"/>
          </a:xfrm>
          <a:prstGeom prst="rect">
            <a:avLst/>
          </a:prstGeom>
          <a:noFill/>
          <a:ln>
            <a:noFill/>
          </a:ln>
        </p:spPr>
        <p:txBody>
          <a:bodyPr wrap="square" lIns="91440" tIns="45720" rIns="91440" bIns="45720"/>
          <a:lstStyle/>
          <a:p>
            <a:r>
              <a:rPr lang="vi-VN" sz="1000">
                <a:solidFill>
                  <a:srgbClr val="0F172A"/>
                </a:solidFill>
              </a:rPr>
              <a:t>0.015 / 0.7 / 0.4</a:t>
            </a:r>
          </a:p>
        </p:txBody>
      </p:sp>
      <p:sp>
        <p:nvSpPr>
          <p:cNvPr id="17" name="Shape 17"/>
          <p:cNvSpPr/>
          <p:nvPr/>
        </p:nvSpPr>
        <p:spPr>
          <a:xfrm>
            <a:off x="4709160" y="1645920"/>
            <a:ext cx="6126480" cy="502920"/>
          </a:xfrm>
          <a:prstGeom prst="rect">
            <a:avLst/>
          </a:prstGeom>
          <a:solidFill>
            <a:srgbClr val="FFFFFF"/>
          </a:solidFill>
          <a:ln w="12700">
            <a:solidFill>
              <a:srgbClr val="E2E8F0"/>
            </a:solidFill>
          </a:ln>
        </p:spPr>
      </p:sp>
      <p:sp>
        <p:nvSpPr>
          <p:cNvPr id="18" name="TextBox 18"/>
          <p:cNvSpPr txBox="1"/>
          <p:nvPr/>
        </p:nvSpPr>
        <p:spPr>
          <a:xfrm>
            <a:off x="4745736" y="1709928"/>
            <a:ext cx="6053328" cy="429768"/>
          </a:xfrm>
          <a:prstGeom prst="rect">
            <a:avLst/>
          </a:prstGeom>
          <a:noFill/>
          <a:ln>
            <a:noFill/>
          </a:ln>
        </p:spPr>
        <p:txBody>
          <a:bodyPr wrap="square" lIns="91440" tIns="45720" rIns="91440" bIns="45720"/>
          <a:lstStyle/>
          <a:p>
            <a:r>
              <a:rPr lang="vi-VN" sz="1000">
                <a:solidFill>
                  <a:srgbClr val="0F172A"/>
                </a:solidFill>
              </a:rPr>
              <a:t>Thay đổi màu, bão hòa, độ sáng</a:t>
            </a:r>
          </a:p>
        </p:txBody>
      </p:sp>
      <p:sp>
        <p:nvSpPr>
          <p:cNvPr id="19" name="Shape 19"/>
          <p:cNvSpPr/>
          <p:nvPr/>
        </p:nvSpPr>
        <p:spPr>
          <a:xfrm>
            <a:off x="685800" y="2148840"/>
            <a:ext cx="1828800" cy="502920"/>
          </a:xfrm>
          <a:prstGeom prst="rect">
            <a:avLst/>
          </a:prstGeom>
          <a:solidFill>
            <a:srgbClr val="FFFFFF"/>
          </a:solidFill>
          <a:ln w="12700">
            <a:solidFill>
              <a:srgbClr val="E2E8F0"/>
            </a:solidFill>
          </a:ln>
        </p:spPr>
      </p:sp>
      <p:sp>
        <p:nvSpPr>
          <p:cNvPr id="20" name="TextBox 20"/>
          <p:cNvSpPr txBox="1"/>
          <p:nvPr/>
        </p:nvSpPr>
        <p:spPr>
          <a:xfrm>
            <a:off x="722376" y="2212848"/>
            <a:ext cx="1755648" cy="429768"/>
          </a:xfrm>
          <a:prstGeom prst="rect">
            <a:avLst/>
          </a:prstGeom>
          <a:noFill/>
          <a:ln>
            <a:noFill/>
          </a:ln>
        </p:spPr>
        <p:txBody>
          <a:bodyPr wrap="square" lIns="91440" tIns="45720" rIns="91440" bIns="45720"/>
          <a:lstStyle/>
          <a:p>
            <a:r>
              <a:rPr lang="vi-VN" sz="1000">
                <a:solidFill>
                  <a:srgbClr val="0F172A"/>
                </a:solidFill>
              </a:rPr>
              <a:t>translate</a:t>
            </a:r>
          </a:p>
        </p:txBody>
      </p:sp>
      <p:sp>
        <p:nvSpPr>
          <p:cNvPr id="21" name="Shape 21"/>
          <p:cNvSpPr/>
          <p:nvPr/>
        </p:nvSpPr>
        <p:spPr>
          <a:xfrm>
            <a:off x="2514600" y="2148840"/>
            <a:ext cx="2194560" cy="502920"/>
          </a:xfrm>
          <a:prstGeom prst="rect">
            <a:avLst/>
          </a:prstGeom>
          <a:solidFill>
            <a:srgbClr val="FFFFFF"/>
          </a:solidFill>
          <a:ln w="12700">
            <a:solidFill>
              <a:srgbClr val="E2E8F0"/>
            </a:solidFill>
          </a:ln>
        </p:spPr>
      </p:sp>
      <p:sp>
        <p:nvSpPr>
          <p:cNvPr id="22" name="TextBox 22"/>
          <p:cNvSpPr txBox="1"/>
          <p:nvPr/>
        </p:nvSpPr>
        <p:spPr>
          <a:xfrm>
            <a:off x="2551176" y="2212848"/>
            <a:ext cx="2121408" cy="429768"/>
          </a:xfrm>
          <a:prstGeom prst="rect">
            <a:avLst/>
          </a:prstGeom>
          <a:noFill/>
          <a:ln>
            <a:noFill/>
          </a:ln>
        </p:spPr>
        <p:txBody>
          <a:bodyPr wrap="square" lIns="91440" tIns="45720" rIns="91440" bIns="45720"/>
          <a:lstStyle/>
          <a:p>
            <a:r>
              <a:rPr lang="vi-VN" sz="1000">
                <a:solidFill>
                  <a:srgbClr val="0F172A"/>
                </a:solidFill>
              </a:rPr>
              <a:t>0.1</a:t>
            </a:r>
          </a:p>
        </p:txBody>
      </p:sp>
      <p:sp>
        <p:nvSpPr>
          <p:cNvPr id="23" name="Shape 23"/>
          <p:cNvSpPr/>
          <p:nvPr/>
        </p:nvSpPr>
        <p:spPr>
          <a:xfrm>
            <a:off x="4709160" y="2148840"/>
            <a:ext cx="6126480" cy="502920"/>
          </a:xfrm>
          <a:prstGeom prst="rect">
            <a:avLst/>
          </a:prstGeom>
          <a:solidFill>
            <a:srgbClr val="FFFFFF"/>
          </a:solidFill>
          <a:ln w="12700">
            <a:solidFill>
              <a:srgbClr val="E2E8F0"/>
            </a:solidFill>
          </a:ln>
        </p:spPr>
      </p:sp>
      <p:sp>
        <p:nvSpPr>
          <p:cNvPr id="24" name="TextBox 24"/>
          <p:cNvSpPr txBox="1"/>
          <p:nvPr/>
        </p:nvSpPr>
        <p:spPr>
          <a:xfrm>
            <a:off x="4745736" y="2212848"/>
            <a:ext cx="6053328" cy="429768"/>
          </a:xfrm>
          <a:prstGeom prst="rect">
            <a:avLst/>
          </a:prstGeom>
          <a:noFill/>
          <a:ln>
            <a:noFill/>
          </a:ln>
        </p:spPr>
        <p:txBody>
          <a:bodyPr wrap="square" lIns="91440" tIns="45720" rIns="91440" bIns="45720"/>
          <a:lstStyle/>
          <a:p>
            <a:r>
              <a:rPr lang="vi-VN" sz="1000">
                <a:solidFill>
                  <a:srgbClr val="0F172A"/>
                </a:solidFill>
              </a:rPr>
              <a:t>Dịch ảnh theo không gian</a:t>
            </a:r>
          </a:p>
        </p:txBody>
      </p:sp>
      <p:sp>
        <p:nvSpPr>
          <p:cNvPr id="25" name="Shape 25"/>
          <p:cNvSpPr/>
          <p:nvPr/>
        </p:nvSpPr>
        <p:spPr>
          <a:xfrm>
            <a:off x="685800" y="2651760"/>
            <a:ext cx="1828800" cy="502920"/>
          </a:xfrm>
          <a:prstGeom prst="rect">
            <a:avLst/>
          </a:prstGeom>
          <a:solidFill>
            <a:srgbClr val="FFFFFF"/>
          </a:solidFill>
          <a:ln w="12700">
            <a:solidFill>
              <a:srgbClr val="E2E8F0"/>
            </a:solidFill>
          </a:ln>
        </p:spPr>
      </p:sp>
      <p:sp>
        <p:nvSpPr>
          <p:cNvPr id="26" name="TextBox 26"/>
          <p:cNvSpPr txBox="1"/>
          <p:nvPr/>
        </p:nvSpPr>
        <p:spPr>
          <a:xfrm>
            <a:off x="722376" y="2715768"/>
            <a:ext cx="1755648" cy="429768"/>
          </a:xfrm>
          <a:prstGeom prst="rect">
            <a:avLst/>
          </a:prstGeom>
          <a:noFill/>
          <a:ln>
            <a:noFill/>
          </a:ln>
        </p:spPr>
        <p:txBody>
          <a:bodyPr wrap="square" lIns="91440" tIns="45720" rIns="91440" bIns="45720"/>
          <a:lstStyle/>
          <a:p>
            <a:r>
              <a:rPr lang="vi-VN" sz="1000">
                <a:solidFill>
                  <a:srgbClr val="0F172A"/>
                </a:solidFill>
              </a:rPr>
              <a:t>scale</a:t>
            </a:r>
          </a:p>
        </p:txBody>
      </p:sp>
      <p:sp>
        <p:nvSpPr>
          <p:cNvPr id="27" name="Shape 27"/>
          <p:cNvSpPr/>
          <p:nvPr/>
        </p:nvSpPr>
        <p:spPr>
          <a:xfrm>
            <a:off x="2514600" y="2651760"/>
            <a:ext cx="2194560" cy="502920"/>
          </a:xfrm>
          <a:prstGeom prst="rect">
            <a:avLst/>
          </a:prstGeom>
          <a:solidFill>
            <a:srgbClr val="FFFFFF"/>
          </a:solidFill>
          <a:ln w="12700">
            <a:solidFill>
              <a:srgbClr val="E2E8F0"/>
            </a:solidFill>
          </a:ln>
        </p:spPr>
      </p:sp>
      <p:sp>
        <p:nvSpPr>
          <p:cNvPr id="28" name="TextBox 28"/>
          <p:cNvSpPr txBox="1"/>
          <p:nvPr/>
        </p:nvSpPr>
        <p:spPr>
          <a:xfrm>
            <a:off x="2551176" y="2715768"/>
            <a:ext cx="2121408" cy="429768"/>
          </a:xfrm>
          <a:prstGeom prst="rect">
            <a:avLst/>
          </a:prstGeom>
          <a:noFill/>
          <a:ln>
            <a:noFill/>
          </a:ln>
        </p:spPr>
        <p:txBody>
          <a:bodyPr wrap="square" lIns="91440" tIns="45720" rIns="91440" bIns="45720"/>
          <a:lstStyle/>
          <a:p>
            <a:r>
              <a:rPr lang="vi-VN" sz="1000">
                <a:solidFill>
                  <a:srgbClr val="0F172A"/>
                </a:solidFill>
              </a:rPr>
              <a:t>0.5</a:t>
            </a:r>
          </a:p>
        </p:txBody>
      </p:sp>
      <p:sp>
        <p:nvSpPr>
          <p:cNvPr id="29" name="Shape 29"/>
          <p:cNvSpPr/>
          <p:nvPr/>
        </p:nvSpPr>
        <p:spPr>
          <a:xfrm>
            <a:off x="4709160" y="2651760"/>
            <a:ext cx="6126480" cy="502920"/>
          </a:xfrm>
          <a:prstGeom prst="rect">
            <a:avLst/>
          </a:prstGeom>
          <a:solidFill>
            <a:srgbClr val="FFFFFF"/>
          </a:solidFill>
          <a:ln w="12700">
            <a:solidFill>
              <a:srgbClr val="E2E8F0"/>
            </a:solidFill>
          </a:ln>
        </p:spPr>
      </p:sp>
      <p:sp>
        <p:nvSpPr>
          <p:cNvPr id="30" name="TextBox 30"/>
          <p:cNvSpPr txBox="1"/>
          <p:nvPr/>
        </p:nvSpPr>
        <p:spPr>
          <a:xfrm>
            <a:off x="4745736" y="2715768"/>
            <a:ext cx="6053328" cy="429768"/>
          </a:xfrm>
          <a:prstGeom prst="rect">
            <a:avLst/>
          </a:prstGeom>
          <a:noFill/>
          <a:ln>
            <a:noFill/>
          </a:ln>
        </p:spPr>
        <p:txBody>
          <a:bodyPr wrap="square" lIns="91440" tIns="45720" rIns="91440" bIns="45720"/>
          <a:lstStyle/>
          <a:p>
            <a:r>
              <a:rPr lang="vi-VN" sz="1000">
                <a:solidFill>
                  <a:srgbClr val="0F172A"/>
                </a:solidFill>
              </a:rPr>
              <a:t>Mô phỏng nhiều khoảng cách chụp</a:t>
            </a:r>
          </a:p>
        </p:txBody>
      </p:sp>
      <p:sp>
        <p:nvSpPr>
          <p:cNvPr id="31" name="Shape 31"/>
          <p:cNvSpPr/>
          <p:nvPr/>
        </p:nvSpPr>
        <p:spPr>
          <a:xfrm>
            <a:off x="685800" y="3154680"/>
            <a:ext cx="1828800" cy="502920"/>
          </a:xfrm>
          <a:prstGeom prst="rect">
            <a:avLst/>
          </a:prstGeom>
          <a:solidFill>
            <a:srgbClr val="FFFFFF"/>
          </a:solidFill>
          <a:ln w="12700">
            <a:solidFill>
              <a:srgbClr val="E2E8F0"/>
            </a:solidFill>
          </a:ln>
        </p:spPr>
      </p:sp>
      <p:sp>
        <p:nvSpPr>
          <p:cNvPr id="32" name="TextBox 32"/>
          <p:cNvSpPr txBox="1"/>
          <p:nvPr/>
        </p:nvSpPr>
        <p:spPr>
          <a:xfrm>
            <a:off x="722376" y="3218688"/>
            <a:ext cx="1755648" cy="429768"/>
          </a:xfrm>
          <a:prstGeom prst="rect">
            <a:avLst/>
          </a:prstGeom>
          <a:noFill/>
          <a:ln>
            <a:noFill/>
          </a:ln>
        </p:spPr>
        <p:txBody>
          <a:bodyPr wrap="square" lIns="91440" tIns="45720" rIns="91440" bIns="45720"/>
          <a:lstStyle/>
          <a:p>
            <a:r>
              <a:rPr lang="vi-VN" sz="1000">
                <a:solidFill>
                  <a:srgbClr val="0F172A"/>
                </a:solidFill>
              </a:rPr>
              <a:t>fliplr</a:t>
            </a:r>
          </a:p>
        </p:txBody>
      </p:sp>
      <p:sp>
        <p:nvSpPr>
          <p:cNvPr id="33" name="Shape 33"/>
          <p:cNvSpPr/>
          <p:nvPr/>
        </p:nvSpPr>
        <p:spPr>
          <a:xfrm>
            <a:off x="2514600" y="3154680"/>
            <a:ext cx="2194560" cy="502920"/>
          </a:xfrm>
          <a:prstGeom prst="rect">
            <a:avLst/>
          </a:prstGeom>
          <a:solidFill>
            <a:srgbClr val="FFFFFF"/>
          </a:solidFill>
          <a:ln w="12700">
            <a:solidFill>
              <a:srgbClr val="E2E8F0"/>
            </a:solidFill>
          </a:ln>
        </p:spPr>
      </p:sp>
      <p:sp>
        <p:nvSpPr>
          <p:cNvPr id="34" name="TextBox 34"/>
          <p:cNvSpPr txBox="1"/>
          <p:nvPr/>
        </p:nvSpPr>
        <p:spPr>
          <a:xfrm>
            <a:off x="2551176" y="3218688"/>
            <a:ext cx="2121408" cy="429768"/>
          </a:xfrm>
          <a:prstGeom prst="rect">
            <a:avLst/>
          </a:prstGeom>
          <a:noFill/>
          <a:ln>
            <a:noFill/>
          </a:ln>
        </p:spPr>
        <p:txBody>
          <a:bodyPr wrap="square" lIns="91440" tIns="45720" rIns="91440" bIns="45720"/>
          <a:lstStyle/>
          <a:p>
            <a:r>
              <a:rPr lang="vi-VN" sz="1000">
                <a:solidFill>
                  <a:srgbClr val="0F172A"/>
                </a:solidFill>
              </a:rPr>
              <a:t>0.5</a:t>
            </a:r>
          </a:p>
        </p:txBody>
      </p:sp>
      <p:sp>
        <p:nvSpPr>
          <p:cNvPr id="35" name="Shape 35"/>
          <p:cNvSpPr/>
          <p:nvPr/>
        </p:nvSpPr>
        <p:spPr>
          <a:xfrm>
            <a:off x="4709160" y="3154680"/>
            <a:ext cx="6126480" cy="502920"/>
          </a:xfrm>
          <a:prstGeom prst="rect">
            <a:avLst/>
          </a:prstGeom>
          <a:solidFill>
            <a:srgbClr val="FFFFFF"/>
          </a:solidFill>
          <a:ln w="12700">
            <a:solidFill>
              <a:srgbClr val="E2E8F0"/>
            </a:solidFill>
          </a:ln>
        </p:spPr>
      </p:sp>
      <p:sp>
        <p:nvSpPr>
          <p:cNvPr id="36" name="TextBox 36"/>
          <p:cNvSpPr txBox="1"/>
          <p:nvPr/>
        </p:nvSpPr>
        <p:spPr>
          <a:xfrm>
            <a:off x="4745736" y="3218688"/>
            <a:ext cx="6053328" cy="429768"/>
          </a:xfrm>
          <a:prstGeom prst="rect">
            <a:avLst/>
          </a:prstGeom>
          <a:noFill/>
          <a:ln>
            <a:noFill/>
          </a:ln>
        </p:spPr>
        <p:txBody>
          <a:bodyPr wrap="square" lIns="91440" tIns="45720" rIns="91440" bIns="45720"/>
          <a:lstStyle/>
          <a:p>
            <a:r>
              <a:rPr lang="vi-VN" sz="1000">
                <a:solidFill>
                  <a:srgbClr val="0F172A"/>
                </a:solidFill>
              </a:rPr>
              <a:t>Lật ngang với xác suất 50%</a:t>
            </a:r>
          </a:p>
        </p:txBody>
      </p:sp>
      <p:sp>
        <p:nvSpPr>
          <p:cNvPr id="37" name="Shape 37"/>
          <p:cNvSpPr/>
          <p:nvPr/>
        </p:nvSpPr>
        <p:spPr>
          <a:xfrm>
            <a:off x="685800" y="3657600"/>
            <a:ext cx="1828800" cy="502920"/>
          </a:xfrm>
          <a:prstGeom prst="rect">
            <a:avLst/>
          </a:prstGeom>
          <a:solidFill>
            <a:srgbClr val="FFFFFF"/>
          </a:solidFill>
          <a:ln w="12700">
            <a:solidFill>
              <a:srgbClr val="E2E8F0"/>
            </a:solidFill>
          </a:ln>
        </p:spPr>
      </p:sp>
      <p:sp>
        <p:nvSpPr>
          <p:cNvPr id="38" name="TextBox 38"/>
          <p:cNvSpPr txBox="1"/>
          <p:nvPr/>
        </p:nvSpPr>
        <p:spPr>
          <a:xfrm>
            <a:off x="722376" y="3721608"/>
            <a:ext cx="1755648" cy="429768"/>
          </a:xfrm>
          <a:prstGeom prst="rect">
            <a:avLst/>
          </a:prstGeom>
          <a:noFill/>
          <a:ln>
            <a:noFill/>
          </a:ln>
        </p:spPr>
        <p:txBody>
          <a:bodyPr wrap="square" lIns="91440" tIns="45720" rIns="91440" bIns="45720"/>
          <a:lstStyle/>
          <a:p>
            <a:r>
              <a:rPr lang="vi-VN" sz="1000">
                <a:solidFill>
                  <a:srgbClr val="0F172A"/>
                </a:solidFill>
              </a:rPr>
              <a:t>mosaic</a:t>
            </a:r>
          </a:p>
        </p:txBody>
      </p:sp>
      <p:sp>
        <p:nvSpPr>
          <p:cNvPr id="39" name="Shape 39"/>
          <p:cNvSpPr/>
          <p:nvPr/>
        </p:nvSpPr>
        <p:spPr>
          <a:xfrm>
            <a:off x="2514600" y="3657600"/>
            <a:ext cx="2194560" cy="502920"/>
          </a:xfrm>
          <a:prstGeom prst="rect">
            <a:avLst/>
          </a:prstGeom>
          <a:solidFill>
            <a:srgbClr val="FFFFFF"/>
          </a:solidFill>
          <a:ln w="12700">
            <a:solidFill>
              <a:srgbClr val="E2E8F0"/>
            </a:solidFill>
          </a:ln>
        </p:spPr>
      </p:sp>
      <p:sp>
        <p:nvSpPr>
          <p:cNvPr id="40" name="TextBox 40"/>
          <p:cNvSpPr txBox="1"/>
          <p:nvPr/>
        </p:nvSpPr>
        <p:spPr>
          <a:xfrm>
            <a:off x="2551176" y="3721608"/>
            <a:ext cx="2121408" cy="429768"/>
          </a:xfrm>
          <a:prstGeom prst="rect">
            <a:avLst/>
          </a:prstGeom>
          <a:noFill/>
          <a:ln>
            <a:noFill/>
          </a:ln>
        </p:spPr>
        <p:txBody>
          <a:bodyPr wrap="square" lIns="91440" tIns="45720" rIns="91440" bIns="45720"/>
          <a:lstStyle/>
          <a:p>
            <a:r>
              <a:rPr lang="vi-VN" sz="1000">
                <a:solidFill>
                  <a:srgbClr val="0F172A"/>
                </a:solidFill>
              </a:rPr>
              <a:t>1.0</a:t>
            </a:r>
          </a:p>
        </p:txBody>
      </p:sp>
      <p:sp>
        <p:nvSpPr>
          <p:cNvPr id="41" name="Shape 41"/>
          <p:cNvSpPr/>
          <p:nvPr/>
        </p:nvSpPr>
        <p:spPr>
          <a:xfrm>
            <a:off x="4709160" y="3657600"/>
            <a:ext cx="6126480" cy="502920"/>
          </a:xfrm>
          <a:prstGeom prst="rect">
            <a:avLst/>
          </a:prstGeom>
          <a:solidFill>
            <a:srgbClr val="FFFFFF"/>
          </a:solidFill>
          <a:ln w="12700">
            <a:solidFill>
              <a:srgbClr val="E2E8F0"/>
            </a:solidFill>
          </a:ln>
        </p:spPr>
      </p:sp>
      <p:sp>
        <p:nvSpPr>
          <p:cNvPr id="42" name="TextBox 42"/>
          <p:cNvSpPr txBox="1"/>
          <p:nvPr/>
        </p:nvSpPr>
        <p:spPr>
          <a:xfrm>
            <a:off x="4745736" y="3721608"/>
            <a:ext cx="6053328" cy="429768"/>
          </a:xfrm>
          <a:prstGeom prst="rect">
            <a:avLst/>
          </a:prstGeom>
          <a:noFill/>
          <a:ln>
            <a:noFill/>
          </a:ln>
        </p:spPr>
        <p:txBody>
          <a:bodyPr wrap="square" lIns="91440" tIns="45720" rIns="91440" bIns="45720"/>
          <a:lstStyle/>
          <a:p>
            <a:r>
              <a:rPr lang="vi-VN" sz="1000">
                <a:solidFill>
                  <a:srgbClr val="0F172A"/>
                </a:solidFill>
              </a:rPr>
              <a:t>Ghép ảnh, tăng ngữ cảnh và vật thể nhỏ</a:t>
            </a:r>
          </a:p>
        </p:txBody>
      </p:sp>
      <p:sp>
        <p:nvSpPr>
          <p:cNvPr id="43" name="Shape 43"/>
          <p:cNvSpPr/>
          <p:nvPr/>
        </p:nvSpPr>
        <p:spPr>
          <a:xfrm>
            <a:off x="685800" y="4160520"/>
            <a:ext cx="1828800" cy="502920"/>
          </a:xfrm>
          <a:prstGeom prst="rect">
            <a:avLst/>
          </a:prstGeom>
          <a:solidFill>
            <a:srgbClr val="FFFFFF"/>
          </a:solidFill>
          <a:ln w="12700">
            <a:solidFill>
              <a:srgbClr val="E2E8F0"/>
            </a:solidFill>
          </a:ln>
        </p:spPr>
      </p:sp>
      <p:sp>
        <p:nvSpPr>
          <p:cNvPr id="44" name="TextBox 44"/>
          <p:cNvSpPr txBox="1"/>
          <p:nvPr/>
        </p:nvSpPr>
        <p:spPr>
          <a:xfrm>
            <a:off x="722376" y="4224528"/>
            <a:ext cx="1755648" cy="429768"/>
          </a:xfrm>
          <a:prstGeom prst="rect">
            <a:avLst/>
          </a:prstGeom>
          <a:noFill/>
          <a:ln>
            <a:noFill/>
          </a:ln>
        </p:spPr>
        <p:txBody>
          <a:bodyPr wrap="square" lIns="91440" tIns="45720" rIns="91440" bIns="45720"/>
          <a:lstStyle/>
          <a:p>
            <a:r>
              <a:rPr lang="vi-VN" sz="1000">
                <a:solidFill>
                  <a:srgbClr val="0F172A"/>
                </a:solidFill>
              </a:rPr>
              <a:t>close_mosaic</a:t>
            </a:r>
          </a:p>
        </p:txBody>
      </p:sp>
      <p:sp>
        <p:nvSpPr>
          <p:cNvPr id="45" name="Shape 45"/>
          <p:cNvSpPr/>
          <p:nvPr/>
        </p:nvSpPr>
        <p:spPr>
          <a:xfrm>
            <a:off x="2514600" y="4160520"/>
            <a:ext cx="2194560" cy="502920"/>
          </a:xfrm>
          <a:prstGeom prst="rect">
            <a:avLst/>
          </a:prstGeom>
          <a:solidFill>
            <a:srgbClr val="FFFFFF"/>
          </a:solidFill>
          <a:ln w="12700">
            <a:solidFill>
              <a:srgbClr val="E2E8F0"/>
            </a:solidFill>
          </a:ln>
        </p:spPr>
      </p:sp>
      <p:sp>
        <p:nvSpPr>
          <p:cNvPr id="46" name="TextBox 46"/>
          <p:cNvSpPr txBox="1"/>
          <p:nvPr/>
        </p:nvSpPr>
        <p:spPr>
          <a:xfrm>
            <a:off x="2551176" y="4224528"/>
            <a:ext cx="2121408" cy="429768"/>
          </a:xfrm>
          <a:prstGeom prst="rect">
            <a:avLst/>
          </a:prstGeom>
          <a:noFill/>
          <a:ln>
            <a:noFill/>
          </a:ln>
        </p:spPr>
        <p:txBody>
          <a:bodyPr wrap="square" lIns="91440" tIns="45720" rIns="91440" bIns="45720"/>
          <a:lstStyle/>
          <a:p>
            <a:r>
              <a:rPr lang="vi-VN" sz="1000">
                <a:solidFill>
                  <a:srgbClr val="0F172A"/>
                </a:solidFill>
              </a:rPr>
              <a:t>10</a:t>
            </a:r>
          </a:p>
        </p:txBody>
      </p:sp>
      <p:sp>
        <p:nvSpPr>
          <p:cNvPr id="47" name="Shape 47"/>
          <p:cNvSpPr/>
          <p:nvPr/>
        </p:nvSpPr>
        <p:spPr>
          <a:xfrm>
            <a:off x="4709160" y="4160520"/>
            <a:ext cx="6126480" cy="502920"/>
          </a:xfrm>
          <a:prstGeom prst="rect">
            <a:avLst/>
          </a:prstGeom>
          <a:solidFill>
            <a:srgbClr val="FFFFFF"/>
          </a:solidFill>
          <a:ln w="12700">
            <a:solidFill>
              <a:srgbClr val="E2E8F0"/>
            </a:solidFill>
          </a:ln>
        </p:spPr>
      </p:sp>
      <p:sp>
        <p:nvSpPr>
          <p:cNvPr id="48" name="TextBox 48"/>
          <p:cNvSpPr txBox="1"/>
          <p:nvPr/>
        </p:nvSpPr>
        <p:spPr>
          <a:xfrm>
            <a:off x="4745736" y="4224528"/>
            <a:ext cx="6053328" cy="429768"/>
          </a:xfrm>
          <a:prstGeom prst="rect">
            <a:avLst/>
          </a:prstGeom>
          <a:noFill/>
          <a:ln>
            <a:noFill/>
          </a:ln>
        </p:spPr>
        <p:txBody>
          <a:bodyPr wrap="square" lIns="91440" tIns="45720" rIns="91440" bIns="45720"/>
          <a:lstStyle/>
          <a:p>
            <a:r>
              <a:rPr lang="vi-VN" sz="1000">
                <a:solidFill>
                  <a:srgbClr val="0F172A"/>
                </a:solidFill>
              </a:rPr>
              <a:t>Tắt mosaic ở 10 epoch cuối</a:t>
            </a:r>
          </a:p>
        </p:txBody>
      </p:sp>
      <p:sp>
        <p:nvSpPr>
          <p:cNvPr id="49" name="TextBox 49"/>
          <p:cNvSpPr txBox="1"/>
          <p:nvPr/>
        </p:nvSpPr>
        <p:spPr>
          <a:xfrm>
            <a:off x="777240" y="5074920"/>
            <a:ext cx="10241280" cy="594360"/>
          </a:xfrm>
          <a:prstGeom prst="roundRect">
            <a:avLst/>
          </a:prstGeom>
          <a:solidFill>
            <a:srgbClr val="F8FAFC"/>
          </a:solidFill>
          <a:ln w="12700">
            <a:solidFill>
              <a:srgbClr val="E2E8F0"/>
            </a:solidFill>
          </a:ln>
        </p:spPr>
        <p:txBody>
          <a:bodyPr wrap="square" lIns="91440" tIns="45720" rIns="91440" bIns="45720"/>
          <a:lstStyle/>
          <a:p>
            <a:r>
              <a:rPr lang="vi-VN" sz="1700">
                <a:solidFill>
                  <a:srgbClr val="111827"/>
                </a:solidFill>
              </a:rPr>
              <a:t>Các augmentation như mixup, cutmix, copy_paste đang tắt trong run hiện tại. Như vậy dự án vừa mở rộng dữ liệu thật, vừa dùng augmentation mặc định để tăng khả năng tổng quát hóa.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CNN severity classification</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Mô hình chính hiện tại: ConvNeXt-Tiny, nhận ảnh full người dùng upload.</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685800" y="1188720"/>
            <a:ext cx="1554480" cy="530352"/>
          </a:xfrm>
          <a:prstGeom prst="rect">
            <a:avLst/>
          </a:prstGeom>
          <a:solidFill>
            <a:srgbClr val="F1F5F9"/>
          </a:solidFill>
          <a:ln w="12700">
            <a:solidFill>
              <a:srgbClr val="E2E8F0"/>
            </a:solidFill>
          </a:ln>
        </p:spPr>
      </p:sp>
      <p:sp>
        <p:nvSpPr>
          <p:cNvPr id="8" name="TextBox 8"/>
          <p:cNvSpPr txBox="1"/>
          <p:nvPr/>
        </p:nvSpPr>
        <p:spPr>
          <a:xfrm>
            <a:off x="722376" y="1252728"/>
            <a:ext cx="1481328" cy="457200"/>
          </a:xfrm>
          <a:prstGeom prst="rect">
            <a:avLst/>
          </a:prstGeom>
          <a:noFill/>
          <a:ln>
            <a:noFill/>
          </a:ln>
        </p:spPr>
        <p:txBody>
          <a:bodyPr wrap="square" lIns="91440" tIns="45720" rIns="91440" bIns="45720"/>
          <a:lstStyle/>
          <a:p>
            <a:r>
              <a:rPr lang="vi-VN" sz="1100" b="1">
                <a:solidFill>
                  <a:srgbClr val="0F172A"/>
                </a:solidFill>
              </a:rPr>
              <a:t>Split</a:t>
            </a:r>
          </a:p>
        </p:txBody>
      </p:sp>
      <p:sp>
        <p:nvSpPr>
          <p:cNvPr id="9" name="Shape 9"/>
          <p:cNvSpPr/>
          <p:nvPr/>
        </p:nvSpPr>
        <p:spPr>
          <a:xfrm>
            <a:off x="2240280" y="1188720"/>
            <a:ext cx="1874520" cy="530352"/>
          </a:xfrm>
          <a:prstGeom prst="rect">
            <a:avLst/>
          </a:prstGeom>
          <a:solidFill>
            <a:srgbClr val="F1F5F9"/>
          </a:solidFill>
          <a:ln w="12700">
            <a:solidFill>
              <a:srgbClr val="E2E8F0"/>
            </a:solidFill>
          </a:ln>
        </p:spPr>
      </p:sp>
      <p:sp>
        <p:nvSpPr>
          <p:cNvPr id="10" name="TextBox 10"/>
          <p:cNvSpPr txBox="1"/>
          <p:nvPr/>
        </p:nvSpPr>
        <p:spPr>
          <a:xfrm>
            <a:off x="2276856" y="1252728"/>
            <a:ext cx="1801368" cy="457200"/>
          </a:xfrm>
          <a:prstGeom prst="rect">
            <a:avLst/>
          </a:prstGeom>
          <a:noFill/>
          <a:ln>
            <a:noFill/>
          </a:ln>
        </p:spPr>
        <p:txBody>
          <a:bodyPr wrap="square" lIns="91440" tIns="45720" rIns="91440" bIns="45720"/>
          <a:lstStyle/>
          <a:p>
            <a:r>
              <a:rPr lang="vi-VN" sz="1100" b="1">
                <a:solidFill>
                  <a:srgbClr val="0F172A"/>
                </a:solidFill>
              </a:rPr>
              <a:t>01-minor</a:t>
            </a:r>
          </a:p>
        </p:txBody>
      </p:sp>
      <p:sp>
        <p:nvSpPr>
          <p:cNvPr id="11" name="Shape 11"/>
          <p:cNvSpPr/>
          <p:nvPr/>
        </p:nvSpPr>
        <p:spPr>
          <a:xfrm>
            <a:off x="4114800" y="1188720"/>
            <a:ext cx="1965960" cy="530352"/>
          </a:xfrm>
          <a:prstGeom prst="rect">
            <a:avLst/>
          </a:prstGeom>
          <a:solidFill>
            <a:srgbClr val="F1F5F9"/>
          </a:solidFill>
          <a:ln w="12700">
            <a:solidFill>
              <a:srgbClr val="E2E8F0"/>
            </a:solidFill>
          </a:ln>
        </p:spPr>
      </p:sp>
      <p:sp>
        <p:nvSpPr>
          <p:cNvPr id="12" name="TextBox 12"/>
          <p:cNvSpPr txBox="1"/>
          <p:nvPr/>
        </p:nvSpPr>
        <p:spPr>
          <a:xfrm>
            <a:off x="4151376" y="1252728"/>
            <a:ext cx="1892808" cy="457200"/>
          </a:xfrm>
          <a:prstGeom prst="rect">
            <a:avLst/>
          </a:prstGeom>
          <a:noFill/>
          <a:ln>
            <a:noFill/>
          </a:ln>
        </p:spPr>
        <p:txBody>
          <a:bodyPr wrap="square" lIns="91440" tIns="45720" rIns="91440" bIns="45720"/>
          <a:lstStyle/>
          <a:p>
            <a:r>
              <a:rPr lang="vi-VN" sz="1100" b="1">
                <a:solidFill>
                  <a:srgbClr val="0F172A"/>
                </a:solidFill>
              </a:rPr>
              <a:t>02-moderate</a:t>
            </a:r>
          </a:p>
        </p:txBody>
      </p:sp>
      <p:sp>
        <p:nvSpPr>
          <p:cNvPr id="13" name="Shape 13"/>
          <p:cNvSpPr/>
          <p:nvPr/>
        </p:nvSpPr>
        <p:spPr>
          <a:xfrm>
            <a:off x="6080760" y="1188720"/>
            <a:ext cx="1874520" cy="530352"/>
          </a:xfrm>
          <a:prstGeom prst="rect">
            <a:avLst/>
          </a:prstGeom>
          <a:solidFill>
            <a:srgbClr val="F1F5F9"/>
          </a:solidFill>
          <a:ln w="12700">
            <a:solidFill>
              <a:srgbClr val="E2E8F0"/>
            </a:solidFill>
          </a:ln>
        </p:spPr>
      </p:sp>
      <p:sp>
        <p:nvSpPr>
          <p:cNvPr id="14" name="TextBox 14"/>
          <p:cNvSpPr txBox="1"/>
          <p:nvPr/>
        </p:nvSpPr>
        <p:spPr>
          <a:xfrm>
            <a:off x="6117336" y="1252728"/>
            <a:ext cx="1801368" cy="457200"/>
          </a:xfrm>
          <a:prstGeom prst="rect">
            <a:avLst/>
          </a:prstGeom>
          <a:noFill/>
          <a:ln>
            <a:noFill/>
          </a:ln>
        </p:spPr>
        <p:txBody>
          <a:bodyPr wrap="square" lIns="91440" tIns="45720" rIns="91440" bIns="45720"/>
          <a:lstStyle/>
          <a:p>
            <a:r>
              <a:rPr lang="vi-VN" sz="1100" b="1">
                <a:solidFill>
                  <a:srgbClr val="0F172A"/>
                </a:solidFill>
              </a:rPr>
              <a:t>03-severe</a:t>
            </a:r>
          </a:p>
        </p:txBody>
      </p:sp>
      <p:sp>
        <p:nvSpPr>
          <p:cNvPr id="15" name="Shape 15"/>
          <p:cNvSpPr/>
          <p:nvPr/>
        </p:nvSpPr>
        <p:spPr>
          <a:xfrm>
            <a:off x="7955280" y="1188720"/>
            <a:ext cx="1554480" cy="530352"/>
          </a:xfrm>
          <a:prstGeom prst="rect">
            <a:avLst/>
          </a:prstGeom>
          <a:solidFill>
            <a:srgbClr val="F1F5F9"/>
          </a:solidFill>
          <a:ln w="12700">
            <a:solidFill>
              <a:srgbClr val="E2E8F0"/>
            </a:solidFill>
          </a:ln>
        </p:spPr>
      </p:sp>
      <p:sp>
        <p:nvSpPr>
          <p:cNvPr id="16" name="TextBox 16"/>
          <p:cNvSpPr txBox="1"/>
          <p:nvPr/>
        </p:nvSpPr>
        <p:spPr>
          <a:xfrm>
            <a:off x="7991856" y="1252728"/>
            <a:ext cx="1481328" cy="457200"/>
          </a:xfrm>
          <a:prstGeom prst="rect">
            <a:avLst/>
          </a:prstGeom>
          <a:noFill/>
          <a:ln>
            <a:noFill/>
          </a:ln>
        </p:spPr>
        <p:txBody>
          <a:bodyPr wrap="square" lIns="91440" tIns="45720" rIns="91440" bIns="45720"/>
          <a:lstStyle/>
          <a:p>
            <a:r>
              <a:rPr lang="vi-VN" sz="1100" b="1">
                <a:solidFill>
                  <a:srgbClr val="0F172A"/>
                </a:solidFill>
              </a:rPr>
              <a:t>Tổng</a:t>
            </a:r>
          </a:p>
        </p:txBody>
      </p:sp>
      <p:sp>
        <p:nvSpPr>
          <p:cNvPr id="17" name="Shape 17"/>
          <p:cNvSpPr/>
          <p:nvPr/>
        </p:nvSpPr>
        <p:spPr>
          <a:xfrm>
            <a:off x="685800" y="1719072"/>
            <a:ext cx="1554480" cy="530352"/>
          </a:xfrm>
          <a:prstGeom prst="rect">
            <a:avLst/>
          </a:prstGeom>
          <a:solidFill>
            <a:srgbClr val="FFFFFF"/>
          </a:solidFill>
          <a:ln w="12700">
            <a:solidFill>
              <a:srgbClr val="E2E8F0"/>
            </a:solidFill>
          </a:ln>
        </p:spPr>
      </p:sp>
      <p:sp>
        <p:nvSpPr>
          <p:cNvPr id="18" name="TextBox 18"/>
          <p:cNvSpPr txBox="1"/>
          <p:nvPr/>
        </p:nvSpPr>
        <p:spPr>
          <a:xfrm>
            <a:off x="722376" y="1783080"/>
            <a:ext cx="1481328" cy="457200"/>
          </a:xfrm>
          <a:prstGeom prst="rect">
            <a:avLst/>
          </a:prstGeom>
          <a:noFill/>
          <a:ln>
            <a:noFill/>
          </a:ln>
        </p:spPr>
        <p:txBody>
          <a:bodyPr wrap="square" lIns="91440" tIns="45720" rIns="91440" bIns="45720"/>
          <a:lstStyle/>
          <a:p>
            <a:r>
              <a:rPr lang="vi-VN" sz="1000">
                <a:solidFill>
                  <a:srgbClr val="0F172A"/>
                </a:solidFill>
              </a:rPr>
              <a:t>training</a:t>
            </a:r>
          </a:p>
        </p:txBody>
      </p:sp>
      <p:sp>
        <p:nvSpPr>
          <p:cNvPr id="19" name="Shape 19"/>
          <p:cNvSpPr/>
          <p:nvPr/>
        </p:nvSpPr>
        <p:spPr>
          <a:xfrm>
            <a:off x="2240280" y="1719072"/>
            <a:ext cx="1874520" cy="530352"/>
          </a:xfrm>
          <a:prstGeom prst="rect">
            <a:avLst/>
          </a:prstGeom>
          <a:solidFill>
            <a:srgbClr val="FFFFFF"/>
          </a:solidFill>
          <a:ln w="12700">
            <a:solidFill>
              <a:srgbClr val="E2E8F0"/>
            </a:solidFill>
          </a:ln>
        </p:spPr>
      </p:sp>
      <p:sp>
        <p:nvSpPr>
          <p:cNvPr id="20" name="TextBox 20"/>
          <p:cNvSpPr txBox="1"/>
          <p:nvPr/>
        </p:nvSpPr>
        <p:spPr>
          <a:xfrm>
            <a:off x="2276856" y="1783080"/>
            <a:ext cx="1801368" cy="457200"/>
          </a:xfrm>
          <a:prstGeom prst="rect">
            <a:avLst/>
          </a:prstGeom>
          <a:noFill/>
          <a:ln>
            <a:noFill/>
          </a:ln>
        </p:spPr>
        <p:txBody>
          <a:bodyPr wrap="square" lIns="91440" tIns="45720" rIns="91440" bIns="45720"/>
          <a:lstStyle/>
          <a:p>
            <a:r>
              <a:rPr lang="vi-VN" sz="1000">
                <a:solidFill>
                  <a:srgbClr val="0F172A"/>
                </a:solidFill>
              </a:rPr>
              <a:t>1.076</a:t>
            </a:r>
          </a:p>
        </p:txBody>
      </p:sp>
      <p:sp>
        <p:nvSpPr>
          <p:cNvPr id="21" name="Shape 21"/>
          <p:cNvSpPr/>
          <p:nvPr/>
        </p:nvSpPr>
        <p:spPr>
          <a:xfrm>
            <a:off x="4114800" y="1719072"/>
            <a:ext cx="1965960" cy="530352"/>
          </a:xfrm>
          <a:prstGeom prst="rect">
            <a:avLst/>
          </a:prstGeom>
          <a:solidFill>
            <a:srgbClr val="FFFFFF"/>
          </a:solidFill>
          <a:ln w="12700">
            <a:solidFill>
              <a:srgbClr val="E2E8F0"/>
            </a:solidFill>
          </a:ln>
        </p:spPr>
      </p:sp>
      <p:sp>
        <p:nvSpPr>
          <p:cNvPr id="22" name="TextBox 22"/>
          <p:cNvSpPr txBox="1"/>
          <p:nvPr/>
        </p:nvSpPr>
        <p:spPr>
          <a:xfrm>
            <a:off x="4151376" y="1783080"/>
            <a:ext cx="1892808" cy="457200"/>
          </a:xfrm>
          <a:prstGeom prst="rect">
            <a:avLst/>
          </a:prstGeom>
          <a:noFill/>
          <a:ln>
            <a:noFill/>
          </a:ln>
        </p:spPr>
        <p:txBody>
          <a:bodyPr wrap="square" lIns="91440" tIns="45720" rIns="91440" bIns="45720"/>
          <a:lstStyle/>
          <a:p>
            <a:r>
              <a:rPr lang="vi-VN" sz="1000">
                <a:solidFill>
                  <a:srgbClr val="0F172A"/>
                </a:solidFill>
              </a:rPr>
              <a:t>924</a:t>
            </a:r>
          </a:p>
        </p:txBody>
      </p:sp>
      <p:sp>
        <p:nvSpPr>
          <p:cNvPr id="23" name="Shape 23"/>
          <p:cNvSpPr/>
          <p:nvPr/>
        </p:nvSpPr>
        <p:spPr>
          <a:xfrm>
            <a:off x="6080760" y="1719072"/>
            <a:ext cx="1874520" cy="530352"/>
          </a:xfrm>
          <a:prstGeom prst="rect">
            <a:avLst/>
          </a:prstGeom>
          <a:solidFill>
            <a:srgbClr val="FFFFFF"/>
          </a:solidFill>
          <a:ln w="12700">
            <a:solidFill>
              <a:srgbClr val="E2E8F0"/>
            </a:solidFill>
          </a:ln>
        </p:spPr>
      </p:sp>
      <p:sp>
        <p:nvSpPr>
          <p:cNvPr id="24" name="TextBox 24"/>
          <p:cNvSpPr txBox="1"/>
          <p:nvPr/>
        </p:nvSpPr>
        <p:spPr>
          <a:xfrm>
            <a:off x="6117336" y="1783080"/>
            <a:ext cx="1801368" cy="457200"/>
          </a:xfrm>
          <a:prstGeom prst="rect">
            <a:avLst/>
          </a:prstGeom>
          <a:noFill/>
          <a:ln>
            <a:noFill/>
          </a:ln>
        </p:spPr>
        <p:txBody>
          <a:bodyPr wrap="square" lIns="91440" tIns="45720" rIns="91440" bIns="45720"/>
          <a:lstStyle/>
          <a:p>
            <a:r>
              <a:rPr lang="vi-VN" sz="1000">
                <a:solidFill>
                  <a:srgbClr val="0F172A"/>
                </a:solidFill>
              </a:rPr>
              <a:t>945</a:t>
            </a:r>
          </a:p>
        </p:txBody>
      </p:sp>
      <p:sp>
        <p:nvSpPr>
          <p:cNvPr id="25" name="Shape 25"/>
          <p:cNvSpPr/>
          <p:nvPr/>
        </p:nvSpPr>
        <p:spPr>
          <a:xfrm>
            <a:off x="7955280" y="1719072"/>
            <a:ext cx="1554480" cy="530352"/>
          </a:xfrm>
          <a:prstGeom prst="rect">
            <a:avLst/>
          </a:prstGeom>
          <a:solidFill>
            <a:srgbClr val="FFFFFF"/>
          </a:solidFill>
          <a:ln w="12700">
            <a:solidFill>
              <a:srgbClr val="E2E8F0"/>
            </a:solidFill>
          </a:ln>
        </p:spPr>
      </p:sp>
      <p:sp>
        <p:nvSpPr>
          <p:cNvPr id="26" name="TextBox 26"/>
          <p:cNvSpPr txBox="1"/>
          <p:nvPr/>
        </p:nvSpPr>
        <p:spPr>
          <a:xfrm>
            <a:off x="7991856" y="1783080"/>
            <a:ext cx="1481328" cy="457200"/>
          </a:xfrm>
          <a:prstGeom prst="rect">
            <a:avLst/>
          </a:prstGeom>
          <a:noFill/>
          <a:ln>
            <a:noFill/>
          </a:ln>
        </p:spPr>
        <p:txBody>
          <a:bodyPr wrap="square" lIns="91440" tIns="45720" rIns="91440" bIns="45720"/>
          <a:lstStyle/>
          <a:p>
            <a:r>
              <a:rPr lang="vi-VN" sz="1000">
                <a:solidFill>
                  <a:srgbClr val="0F172A"/>
                </a:solidFill>
              </a:rPr>
              <a:t>2.945</a:t>
            </a:r>
          </a:p>
        </p:txBody>
      </p:sp>
      <p:sp>
        <p:nvSpPr>
          <p:cNvPr id="27" name="Shape 27"/>
          <p:cNvSpPr/>
          <p:nvPr/>
        </p:nvSpPr>
        <p:spPr>
          <a:xfrm>
            <a:off x="685800" y="2249424"/>
            <a:ext cx="1554480" cy="530352"/>
          </a:xfrm>
          <a:prstGeom prst="rect">
            <a:avLst/>
          </a:prstGeom>
          <a:solidFill>
            <a:srgbClr val="FFFFFF"/>
          </a:solidFill>
          <a:ln w="12700">
            <a:solidFill>
              <a:srgbClr val="E2E8F0"/>
            </a:solidFill>
          </a:ln>
        </p:spPr>
      </p:sp>
      <p:sp>
        <p:nvSpPr>
          <p:cNvPr id="28" name="TextBox 28"/>
          <p:cNvSpPr txBox="1"/>
          <p:nvPr/>
        </p:nvSpPr>
        <p:spPr>
          <a:xfrm>
            <a:off x="722376" y="2313432"/>
            <a:ext cx="1481328" cy="457200"/>
          </a:xfrm>
          <a:prstGeom prst="rect">
            <a:avLst/>
          </a:prstGeom>
          <a:noFill/>
          <a:ln>
            <a:noFill/>
          </a:ln>
        </p:spPr>
        <p:txBody>
          <a:bodyPr wrap="square" lIns="91440" tIns="45720" rIns="91440" bIns="45720"/>
          <a:lstStyle/>
          <a:p>
            <a:r>
              <a:rPr lang="vi-VN" sz="1000">
                <a:solidFill>
                  <a:srgbClr val="0F172A"/>
                </a:solidFill>
              </a:rPr>
              <a:t>validation</a:t>
            </a:r>
          </a:p>
        </p:txBody>
      </p:sp>
      <p:sp>
        <p:nvSpPr>
          <p:cNvPr id="29" name="Shape 29"/>
          <p:cNvSpPr/>
          <p:nvPr/>
        </p:nvSpPr>
        <p:spPr>
          <a:xfrm>
            <a:off x="2240280" y="2249424"/>
            <a:ext cx="1874520" cy="530352"/>
          </a:xfrm>
          <a:prstGeom prst="rect">
            <a:avLst/>
          </a:prstGeom>
          <a:solidFill>
            <a:srgbClr val="FFFFFF"/>
          </a:solidFill>
          <a:ln w="12700">
            <a:solidFill>
              <a:srgbClr val="E2E8F0"/>
            </a:solidFill>
          </a:ln>
        </p:spPr>
      </p:sp>
      <p:sp>
        <p:nvSpPr>
          <p:cNvPr id="30" name="TextBox 30"/>
          <p:cNvSpPr txBox="1"/>
          <p:nvPr/>
        </p:nvSpPr>
        <p:spPr>
          <a:xfrm>
            <a:off x="2276856" y="2313432"/>
            <a:ext cx="1801368" cy="457200"/>
          </a:xfrm>
          <a:prstGeom prst="rect">
            <a:avLst/>
          </a:prstGeom>
          <a:noFill/>
          <a:ln>
            <a:noFill/>
          </a:ln>
        </p:spPr>
        <p:txBody>
          <a:bodyPr wrap="square" lIns="91440" tIns="45720" rIns="91440" bIns="45720"/>
          <a:lstStyle/>
          <a:p>
            <a:r>
              <a:rPr lang="vi-VN" sz="1000">
                <a:solidFill>
                  <a:srgbClr val="0F172A"/>
                </a:solidFill>
              </a:rPr>
              <a:t>82</a:t>
            </a:r>
          </a:p>
        </p:txBody>
      </p:sp>
      <p:sp>
        <p:nvSpPr>
          <p:cNvPr id="31" name="Shape 31"/>
          <p:cNvSpPr/>
          <p:nvPr/>
        </p:nvSpPr>
        <p:spPr>
          <a:xfrm>
            <a:off x="4114800" y="2249424"/>
            <a:ext cx="1965960" cy="530352"/>
          </a:xfrm>
          <a:prstGeom prst="rect">
            <a:avLst/>
          </a:prstGeom>
          <a:solidFill>
            <a:srgbClr val="FFFFFF"/>
          </a:solidFill>
          <a:ln w="12700">
            <a:solidFill>
              <a:srgbClr val="E2E8F0"/>
            </a:solidFill>
          </a:ln>
        </p:spPr>
      </p:sp>
      <p:sp>
        <p:nvSpPr>
          <p:cNvPr id="32" name="TextBox 32"/>
          <p:cNvSpPr txBox="1"/>
          <p:nvPr/>
        </p:nvSpPr>
        <p:spPr>
          <a:xfrm>
            <a:off x="4151376" y="2313432"/>
            <a:ext cx="1892808" cy="457200"/>
          </a:xfrm>
          <a:prstGeom prst="rect">
            <a:avLst/>
          </a:prstGeom>
          <a:noFill/>
          <a:ln>
            <a:noFill/>
          </a:ln>
        </p:spPr>
        <p:txBody>
          <a:bodyPr wrap="square" lIns="91440" tIns="45720" rIns="91440" bIns="45720"/>
          <a:lstStyle/>
          <a:p>
            <a:r>
              <a:rPr lang="vi-VN" sz="1000">
                <a:solidFill>
                  <a:srgbClr val="0F172A"/>
                </a:solidFill>
              </a:rPr>
              <a:t>157</a:t>
            </a:r>
          </a:p>
        </p:txBody>
      </p:sp>
      <p:sp>
        <p:nvSpPr>
          <p:cNvPr id="33" name="Shape 33"/>
          <p:cNvSpPr/>
          <p:nvPr/>
        </p:nvSpPr>
        <p:spPr>
          <a:xfrm>
            <a:off x="6080760" y="2249424"/>
            <a:ext cx="1874520" cy="530352"/>
          </a:xfrm>
          <a:prstGeom prst="rect">
            <a:avLst/>
          </a:prstGeom>
          <a:solidFill>
            <a:srgbClr val="FFFFFF"/>
          </a:solidFill>
          <a:ln w="12700">
            <a:solidFill>
              <a:srgbClr val="E2E8F0"/>
            </a:solidFill>
          </a:ln>
        </p:spPr>
      </p:sp>
      <p:sp>
        <p:nvSpPr>
          <p:cNvPr id="34" name="TextBox 34"/>
          <p:cNvSpPr txBox="1"/>
          <p:nvPr/>
        </p:nvSpPr>
        <p:spPr>
          <a:xfrm>
            <a:off x="6117336" y="2313432"/>
            <a:ext cx="1801368" cy="457200"/>
          </a:xfrm>
          <a:prstGeom prst="rect">
            <a:avLst/>
          </a:prstGeom>
          <a:noFill/>
          <a:ln>
            <a:noFill/>
          </a:ln>
        </p:spPr>
        <p:txBody>
          <a:bodyPr wrap="square" lIns="91440" tIns="45720" rIns="91440" bIns="45720"/>
          <a:lstStyle/>
          <a:p>
            <a:r>
              <a:rPr lang="vi-VN" sz="1000">
                <a:solidFill>
                  <a:srgbClr val="0F172A"/>
                </a:solidFill>
              </a:rPr>
              <a:t>151</a:t>
            </a:r>
          </a:p>
        </p:txBody>
      </p:sp>
      <p:sp>
        <p:nvSpPr>
          <p:cNvPr id="35" name="Shape 35"/>
          <p:cNvSpPr/>
          <p:nvPr/>
        </p:nvSpPr>
        <p:spPr>
          <a:xfrm>
            <a:off x="7955280" y="2249424"/>
            <a:ext cx="1554480" cy="530352"/>
          </a:xfrm>
          <a:prstGeom prst="rect">
            <a:avLst/>
          </a:prstGeom>
          <a:solidFill>
            <a:srgbClr val="FFFFFF"/>
          </a:solidFill>
          <a:ln w="12700">
            <a:solidFill>
              <a:srgbClr val="E2E8F0"/>
            </a:solidFill>
          </a:ln>
        </p:spPr>
      </p:sp>
      <p:sp>
        <p:nvSpPr>
          <p:cNvPr id="36" name="TextBox 36"/>
          <p:cNvSpPr txBox="1"/>
          <p:nvPr/>
        </p:nvSpPr>
        <p:spPr>
          <a:xfrm>
            <a:off x="7991856" y="2313432"/>
            <a:ext cx="1481328" cy="457200"/>
          </a:xfrm>
          <a:prstGeom prst="rect">
            <a:avLst/>
          </a:prstGeom>
          <a:noFill/>
          <a:ln>
            <a:noFill/>
          </a:ln>
        </p:spPr>
        <p:txBody>
          <a:bodyPr wrap="square" lIns="91440" tIns="45720" rIns="91440" bIns="45720"/>
          <a:lstStyle/>
          <a:p>
            <a:r>
              <a:rPr lang="vi-VN" sz="1000">
                <a:solidFill>
                  <a:srgbClr val="0F172A"/>
                </a:solidFill>
              </a:rPr>
              <a:t>390</a:t>
            </a:r>
          </a:p>
        </p:txBody>
      </p:sp>
      <p:sp>
        <p:nvSpPr>
          <p:cNvPr id="37" name="Bullets 37"/>
          <p:cNvSpPr txBox="1"/>
          <p:nvPr/>
        </p:nvSpPr>
        <p:spPr>
          <a:xfrm>
            <a:off x="777240" y="2926080"/>
            <a:ext cx="5303520" cy="1920240"/>
          </a:xfrm>
          <a:prstGeom prst="rect">
            <a:avLst/>
          </a:prstGeom>
          <a:noFill/>
          <a:ln>
            <a:noFill/>
          </a:ln>
        </p:spPr>
        <p:txBody>
          <a:bodyPr wrap="square" lIns="0" tIns="0" rIns="0" bIns="0"/>
          <a:lstStyle/>
          <a:p>
            <a:pPr marL="342900" indent="-171450">
              <a:buChar char="•"/>
            </a:pPr>
            <a:r>
              <a:rPr lang="vi-VN" sz="1800">
                <a:solidFill>
                  <a:srgbClr val="111827"/>
                </a:solidFill>
              </a:rPr>
              <a:t>Đầu vào CNN là ảnh full, không phải crop từ YOLO.</a:t>
            </a:r>
          </a:p>
          <a:p>
            <a:pPr marL="342900" indent="-171450">
              <a:buChar char="•"/>
            </a:pPr>
            <a:r>
              <a:rPr lang="vi-VN" sz="1800">
                <a:solidFill>
                  <a:srgbClr val="111827"/>
                </a:solidFill>
              </a:rPr>
              <a:t>Các lớp thực tế: 01-minor, 02-moderate, 03-severe.</a:t>
            </a:r>
          </a:p>
          <a:p>
            <a:pPr marL="342900" indent="-171450">
              <a:buChar char="•"/>
            </a:pPr>
            <a:r>
              <a:rPr lang="vi-VN" sz="1800">
                <a:solidFill>
                  <a:srgbClr val="111827"/>
                </a:solidFill>
              </a:rPr>
              <a:t>Train theo transfer learning 2 phase: head trước, block cuối + head sau.</a:t>
            </a:r>
          </a:p>
          <a:p>
            <a:pPr marL="342900" indent="-171450">
              <a:buChar char="•"/>
            </a:pPr>
            <a:r>
              <a:rPr lang="vi-VN" sz="1800">
                <a:solidFill>
                  <a:srgbClr val="111827"/>
                </a:solidFill>
              </a:rPr>
              <a:t>Checkpoint tích hợp: Models/ConvNeXt.pkl.</a:t>
            </a:r>
          </a:p>
        </p:txBody>
      </p:sp>
      <p:sp>
        <p:nvSpPr>
          <p:cNvPr id="38" name="TextBox 38"/>
          <p:cNvSpPr txBox="1"/>
          <p:nvPr/>
        </p:nvSpPr>
        <p:spPr>
          <a:xfrm>
            <a:off x="6629400" y="2715768"/>
            <a:ext cx="1783080" cy="256032"/>
          </a:xfrm>
          <a:prstGeom prst="rect">
            <a:avLst/>
          </a:prstGeom>
          <a:noFill/>
          <a:ln>
            <a:noFill/>
          </a:ln>
        </p:spPr>
        <p:txBody>
          <a:bodyPr wrap="square" lIns="91440" tIns="45720" rIns="91440" bIns="45720"/>
          <a:lstStyle/>
          <a:p>
            <a:r>
              <a:rPr lang="vi-VN" sz="1100">
                <a:solidFill>
                  <a:srgbClr val="111827"/>
                </a:solidFill>
              </a:rPr>
              <a:t>ResNet18</a:t>
            </a:r>
          </a:p>
        </p:txBody>
      </p:sp>
      <p:sp>
        <p:nvSpPr>
          <p:cNvPr id="39" name="Shape 39"/>
          <p:cNvSpPr/>
          <p:nvPr/>
        </p:nvSpPr>
        <p:spPr>
          <a:xfrm>
            <a:off x="8412480" y="2743200"/>
            <a:ext cx="2194560" cy="201168"/>
          </a:xfrm>
          <a:prstGeom prst="roundRect">
            <a:avLst/>
          </a:prstGeom>
          <a:solidFill>
            <a:srgbClr val="F1F5F9"/>
          </a:solidFill>
          <a:ln>
            <a:noFill/>
          </a:ln>
        </p:spPr>
      </p:sp>
      <p:sp>
        <p:nvSpPr>
          <p:cNvPr id="40" name="Shape 40"/>
          <p:cNvSpPr/>
          <p:nvPr/>
        </p:nvSpPr>
        <p:spPr>
          <a:xfrm>
            <a:off x="8412480" y="2743200"/>
            <a:ext cx="1899026" cy="201168"/>
          </a:xfrm>
          <a:prstGeom prst="roundRect">
            <a:avLst/>
          </a:prstGeom>
          <a:solidFill>
            <a:srgbClr val="94A3B8"/>
          </a:solidFill>
          <a:ln>
            <a:noFill/>
          </a:ln>
        </p:spPr>
      </p:sp>
      <p:sp>
        <p:nvSpPr>
          <p:cNvPr id="41" name="TextBox 41"/>
          <p:cNvSpPr txBox="1"/>
          <p:nvPr/>
        </p:nvSpPr>
        <p:spPr>
          <a:xfrm>
            <a:off x="10716768" y="2715768"/>
            <a:ext cx="1645920" cy="292608"/>
          </a:xfrm>
          <a:prstGeom prst="rect">
            <a:avLst/>
          </a:prstGeom>
          <a:noFill/>
          <a:ln>
            <a:noFill/>
          </a:ln>
        </p:spPr>
        <p:txBody>
          <a:bodyPr wrap="square" lIns="91440" tIns="45720" rIns="91440" bIns="45720"/>
          <a:lstStyle/>
          <a:p>
            <a:r>
              <a:rPr lang="vi-VN" sz="1100" b="1">
                <a:solidFill>
                  <a:srgbClr val="111827"/>
                </a:solidFill>
              </a:rPr>
              <a:t>F1 0,6490</a:t>
            </a:r>
          </a:p>
        </p:txBody>
      </p:sp>
      <p:sp>
        <p:nvSpPr>
          <p:cNvPr id="42" name="TextBox 42"/>
          <p:cNvSpPr txBox="1"/>
          <p:nvPr/>
        </p:nvSpPr>
        <p:spPr>
          <a:xfrm>
            <a:off x="6629400" y="3218688"/>
            <a:ext cx="1783080" cy="256032"/>
          </a:xfrm>
          <a:prstGeom prst="rect">
            <a:avLst/>
          </a:prstGeom>
          <a:noFill/>
          <a:ln>
            <a:noFill/>
          </a:ln>
        </p:spPr>
        <p:txBody>
          <a:bodyPr wrap="square" lIns="91440" tIns="45720" rIns="91440" bIns="45720"/>
          <a:lstStyle/>
          <a:p>
            <a:r>
              <a:rPr lang="vi-VN" sz="1100">
                <a:solidFill>
                  <a:srgbClr val="111827"/>
                </a:solidFill>
              </a:rPr>
              <a:t>EfficientNet-B0</a:t>
            </a:r>
          </a:p>
        </p:txBody>
      </p:sp>
      <p:sp>
        <p:nvSpPr>
          <p:cNvPr id="43" name="Shape 43"/>
          <p:cNvSpPr/>
          <p:nvPr/>
        </p:nvSpPr>
        <p:spPr>
          <a:xfrm>
            <a:off x="8412480" y="3246120"/>
            <a:ext cx="2194560" cy="201168"/>
          </a:xfrm>
          <a:prstGeom prst="roundRect">
            <a:avLst/>
          </a:prstGeom>
          <a:solidFill>
            <a:srgbClr val="F1F5F9"/>
          </a:solidFill>
          <a:ln>
            <a:noFill/>
          </a:ln>
        </p:spPr>
      </p:sp>
      <p:sp>
        <p:nvSpPr>
          <p:cNvPr id="44" name="Shape 44"/>
          <p:cNvSpPr/>
          <p:nvPr/>
        </p:nvSpPr>
        <p:spPr>
          <a:xfrm>
            <a:off x="8412480" y="3246120"/>
            <a:ext cx="1994709" cy="201168"/>
          </a:xfrm>
          <a:prstGeom prst="roundRect">
            <a:avLst/>
          </a:prstGeom>
          <a:solidFill>
            <a:srgbClr val="94A3B8"/>
          </a:solidFill>
          <a:ln>
            <a:noFill/>
          </a:ln>
        </p:spPr>
      </p:sp>
      <p:sp>
        <p:nvSpPr>
          <p:cNvPr id="45" name="TextBox 45"/>
          <p:cNvSpPr txBox="1"/>
          <p:nvPr/>
        </p:nvSpPr>
        <p:spPr>
          <a:xfrm>
            <a:off x="10716768" y="3218688"/>
            <a:ext cx="1645920" cy="292608"/>
          </a:xfrm>
          <a:prstGeom prst="rect">
            <a:avLst/>
          </a:prstGeom>
          <a:noFill/>
          <a:ln>
            <a:noFill/>
          </a:ln>
        </p:spPr>
        <p:txBody>
          <a:bodyPr wrap="square" lIns="91440" tIns="45720" rIns="91440" bIns="45720"/>
          <a:lstStyle/>
          <a:p>
            <a:r>
              <a:rPr lang="vi-VN" sz="1100" b="1">
                <a:solidFill>
                  <a:srgbClr val="111827"/>
                </a:solidFill>
              </a:rPr>
              <a:t>F1 0,6817</a:t>
            </a:r>
          </a:p>
        </p:txBody>
      </p:sp>
      <p:sp>
        <p:nvSpPr>
          <p:cNvPr id="46" name="TextBox 46"/>
          <p:cNvSpPr txBox="1"/>
          <p:nvPr/>
        </p:nvSpPr>
        <p:spPr>
          <a:xfrm>
            <a:off x="6629400" y="3721608"/>
            <a:ext cx="1783080" cy="256032"/>
          </a:xfrm>
          <a:prstGeom prst="rect">
            <a:avLst/>
          </a:prstGeom>
          <a:noFill/>
          <a:ln>
            <a:noFill/>
          </a:ln>
        </p:spPr>
        <p:txBody>
          <a:bodyPr wrap="square" lIns="91440" tIns="45720" rIns="91440" bIns="45720"/>
          <a:lstStyle/>
          <a:p>
            <a:r>
              <a:rPr lang="vi-VN" sz="1100">
                <a:solidFill>
                  <a:srgbClr val="111827"/>
                </a:solidFill>
              </a:rPr>
              <a:t>EfficientNet-B2</a:t>
            </a:r>
          </a:p>
        </p:txBody>
      </p:sp>
      <p:sp>
        <p:nvSpPr>
          <p:cNvPr id="47" name="Shape 47"/>
          <p:cNvSpPr/>
          <p:nvPr/>
        </p:nvSpPr>
        <p:spPr>
          <a:xfrm>
            <a:off x="8412480" y="3749040"/>
            <a:ext cx="2194560" cy="201168"/>
          </a:xfrm>
          <a:prstGeom prst="roundRect">
            <a:avLst/>
          </a:prstGeom>
          <a:solidFill>
            <a:srgbClr val="F1F5F9"/>
          </a:solidFill>
          <a:ln>
            <a:noFill/>
          </a:ln>
        </p:spPr>
      </p:sp>
      <p:sp>
        <p:nvSpPr>
          <p:cNvPr id="48" name="Shape 48"/>
          <p:cNvSpPr/>
          <p:nvPr/>
        </p:nvSpPr>
        <p:spPr>
          <a:xfrm>
            <a:off x="8412480" y="3749040"/>
            <a:ext cx="2034796" cy="201168"/>
          </a:xfrm>
          <a:prstGeom prst="roundRect">
            <a:avLst/>
          </a:prstGeom>
          <a:solidFill>
            <a:srgbClr val="94A3B8"/>
          </a:solidFill>
          <a:ln>
            <a:noFill/>
          </a:ln>
        </p:spPr>
      </p:sp>
      <p:sp>
        <p:nvSpPr>
          <p:cNvPr id="49" name="TextBox 49"/>
          <p:cNvSpPr txBox="1"/>
          <p:nvPr/>
        </p:nvSpPr>
        <p:spPr>
          <a:xfrm>
            <a:off x="10716768" y="3721608"/>
            <a:ext cx="1645920" cy="292608"/>
          </a:xfrm>
          <a:prstGeom prst="rect">
            <a:avLst/>
          </a:prstGeom>
          <a:noFill/>
          <a:ln>
            <a:noFill/>
          </a:ln>
        </p:spPr>
        <p:txBody>
          <a:bodyPr wrap="square" lIns="91440" tIns="45720" rIns="91440" bIns="45720"/>
          <a:lstStyle/>
          <a:p>
            <a:r>
              <a:rPr lang="vi-VN" sz="1100" b="1">
                <a:solidFill>
                  <a:srgbClr val="111827"/>
                </a:solidFill>
              </a:rPr>
              <a:t>F1 0,6954</a:t>
            </a:r>
          </a:p>
        </p:txBody>
      </p:sp>
      <p:sp>
        <p:nvSpPr>
          <p:cNvPr id="50" name="TextBox 50"/>
          <p:cNvSpPr txBox="1"/>
          <p:nvPr/>
        </p:nvSpPr>
        <p:spPr>
          <a:xfrm>
            <a:off x="6629400" y="4224528"/>
            <a:ext cx="1783080" cy="256032"/>
          </a:xfrm>
          <a:prstGeom prst="rect">
            <a:avLst/>
          </a:prstGeom>
          <a:noFill/>
          <a:ln>
            <a:noFill/>
          </a:ln>
        </p:spPr>
        <p:txBody>
          <a:bodyPr wrap="square" lIns="91440" tIns="45720" rIns="91440" bIns="45720"/>
          <a:lstStyle/>
          <a:p>
            <a:r>
              <a:rPr lang="vi-VN" sz="1100">
                <a:solidFill>
                  <a:srgbClr val="111827"/>
                </a:solidFill>
              </a:rPr>
              <a:t>ResNet50</a:t>
            </a:r>
          </a:p>
        </p:txBody>
      </p:sp>
      <p:sp>
        <p:nvSpPr>
          <p:cNvPr id="51" name="Shape 51"/>
          <p:cNvSpPr/>
          <p:nvPr/>
        </p:nvSpPr>
        <p:spPr>
          <a:xfrm>
            <a:off x="8412480" y="4251960"/>
            <a:ext cx="2194560" cy="201168"/>
          </a:xfrm>
          <a:prstGeom prst="roundRect">
            <a:avLst/>
          </a:prstGeom>
          <a:solidFill>
            <a:srgbClr val="F1F5F9"/>
          </a:solidFill>
          <a:ln>
            <a:noFill/>
          </a:ln>
        </p:spPr>
      </p:sp>
      <p:sp>
        <p:nvSpPr>
          <p:cNvPr id="52" name="Shape 52"/>
          <p:cNvSpPr/>
          <p:nvPr/>
        </p:nvSpPr>
        <p:spPr>
          <a:xfrm>
            <a:off x="8412480" y="4251960"/>
            <a:ext cx="2060838" cy="201168"/>
          </a:xfrm>
          <a:prstGeom prst="roundRect">
            <a:avLst/>
          </a:prstGeom>
          <a:solidFill>
            <a:srgbClr val="94A3B8"/>
          </a:solidFill>
          <a:ln>
            <a:noFill/>
          </a:ln>
        </p:spPr>
      </p:sp>
      <p:sp>
        <p:nvSpPr>
          <p:cNvPr id="53" name="TextBox 53"/>
          <p:cNvSpPr txBox="1"/>
          <p:nvPr/>
        </p:nvSpPr>
        <p:spPr>
          <a:xfrm>
            <a:off x="10716768" y="4224528"/>
            <a:ext cx="1645920" cy="292608"/>
          </a:xfrm>
          <a:prstGeom prst="rect">
            <a:avLst/>
          </a:prstGeom>
          <a:noFill/>
          <a:ln>
            <a:noFill/>
          </a:ln>
        </p:spPr>
        <p:txBody>
          <a:bodyPr wrap="square" lIns="91440" tIns="45720" rIns="91440" bIns="45720"/>
          <a:lstStyle/>
          <a:p>
            <a:r>
              <a:rPr lang="vi-VN" sz="1100" b="1">
                <a:solidFill>
                  <a:srgbClr val="111827"/>
                </a:solidFill>
              </a:rPr>
              <a:t>F1 0,7043</a:t>
            </a:r>
          </a:p>
        </p:txBody>
      </p:sp>
      <p:sp>
        <p:nvSpPr>
          <p:cNvPr id="54" name="TextBox 54"/>
          <p:cNvSpPr txBox="1"/>
          <p:nvPr/>
        </p:nvSpPr>
        <p:spPr>
          <a:xfrm>
            <a:off x="6629400" y="4727448"/>
            <a:ext cx="1783080" cy="256032"/>
          </a:xfrm>
          <a:prstGeom prst="rect">
            <a:avLst/>
          </a:prstGeom>
          <a:noFill/>
          <a:ln>
            <a:noFill/>
          </a:ln>
        </p:spPr>
        <p:txBody>
          <a:bodyPr wrap="square" lIns="91440" tIns="45720" rIns="91440" bIns="45720"/>
          <a:lstStyle/>
          <a:p>
            <a:r>
              <a:rPr lang="vi-VN" sz="1100" b="1">
                <a:solidFill>
                  <a:srgbClr val="111827"/>
                </a:solidFill>
              </a:rPr>
              <a:t>ConvNeXt-Tiny</a:t>
            </a:r>
          </a:p>
        </p:txBody>
      </p:sp>
      <p:sp>
        <p:nvSpPr>
          <p:cNvPr id="55" name="Shape 55"/>
          <p:cNvSpPr/>
          <p:nvPr/>
        </p:nvSpPr>
        <p:spPr>
          <a:xfrm>
            <a:off x="8412480" y="4754880"/>
            <a:ext cx="2194560" cy="201168"/>
          </a:xfrm>
          <a:prstGeom prst="roundRect">
            <a:avLst/>
          </a:prstGeom>
          <a:solidFill>
            <a:srgbClr val="F1F5F9"/>
          </a:solidFill>
          <a:ln>
            <a:noFill/>
          </a:ln>
        </p:spPr>
      </p:sp>
      <p:sp>
        <p:nvSpPr>
          <p:cNvPr id="56" name="Shape 56"/>
          <p:cNvSpPr/>
          <p:nvPr/>
        </p:nvSpPr>
        <p:spPr>
          <a:xfrm>
            <a:off x="8412480" y="4754880"/>
            <a:ext cx="2072835" cy="201168"/>
          </a:xfrm>
          <a:prstGeom prst="roundRect">
            <a:avLst/>
          </a:prstGeom>
          <a:solidFill>
            <a:srgbClr val="7C3AED"/>
          </a:solidFill>
          <a:ln>
            <a:noFill/>
          </a:ln>
        </p:spPr>
      </p:sp>
      <p:sp>
        <p:nvSpPr>
          <p:cNvPr id="57" name="TextBox 57"/>
          <p:cNvSpPr txBox="1"/>
          <p:nvPr/>
        </p:nvSpPr>
        <p:spPr>
          <a:xfrm>
            <a:off x="10716768" y="4727448"/>
            <a:ext cx="1645920" cy="292608"/>
          </a:xfrm>
          <a:prstGeom prst="rect">
            <a:avLst/>
          </a:prstGeom>
          <a:noFill/>
          <a:ln>
            <a:noFill/>
          </a:ln>
        </p:spPr>
        <p:txBody>
          <a:bodyPr wrap="square" lIns="91440" tIns="45720" rIns="91440" bIns="45720"/>
          <a:lstStyle/>
          <a:p>
            <a:r>
              <a:rPr lang="vi-VN" sz="1100" b="1">
                <a:solidFill>
                  <a:srgbClr val="111827"/>
                </a:solidFill>
              </a:rPr>
              <a:t>F1 0,7084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Rule-based adjustment</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Tầng cuối kết hợp giá cơ sở và tín hiệu hư hỏng từ ảnh.</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Bullets 7"/>
          <p:cNvSpPr txBox="1"/>
          <p:nvPr/>
        </p:nvSpPr>
        <p:spPr>
          <a:xfrm>
            <a:off x="731520" y="1234440"/>
            <a:ext cx="5303520" cy="2560320"/>
          </a:xfrm>
          <a:prstGeom prst="rect">
            <a:avLst/>
          </a:prstGeom>
          <a:noFill/>
          <a:ln>
            <a:noFill/>
          </a:ln>
        </p:spPr>
        <p:txBody>
          <a:bodyPr wrap="square" lIns="0" tIns="0" rIns="0" bIns="0"/>
          <a:lstStyle/>
          <a:p>
            <a:pPr marL="342900" indent="-171450">
              <a:buChar char="•"/>
            </a:pPr>
            <a:r>
              <a:rPr lang="vi-VN" sz="1800">
                <a:solidFill>
                  <a:srgbClr val="111827"/>
                </a:solidFill>
              </a:rPr>
              <a:t>Input: base price từ XGBoost.</a:t>
            </a:r>
          </a:p>
          <a:p>
            <a:pPr marL="342900" indent="-171450">
              <a:buChar char="•"/>
            </a:pPr>
            <a:r>
              <a:rPr lang="vi-VN" sz="1800">
                <a:solidFill>
                  <a:srgbClr val="111827"/>
                </a:solidFill>
              </a:rPr>
              <a:t>YOLO cung cấp số lượng, loại và diện tích vùng hư hỏng.</a:t>
            </a:r>
          </a:p>
          <a:p>
            <a:pPr marL="342900" indent="-171450">
              <a:buChar char="•"/>
            </a:pPr>
            <a:r>
              <a:rPr lang="vi-VN" sz="1800">
                <a:solidFill>
                  <a:srgbClr val="111827"/>
                </a:solidFill>
              </a:rPr>
              <a:t>CNN cung cấp mức severity tổng quát: minor/moderate/severe.</a:t>
            </a:r>
          </a:p>
          <a:p>
            <a:pPr marL="342900" indent="-171450">
              <a:buChar char="•"/>
            </a:pPr>
            <a:r>
              <a:rPr lang="vi-VN" sz="1800">
                <a:solidFill>
                  <a:srgbClr val="111827"/>
                </a:solidFill>
              </a:rPr>
              <a:t>Rule-based layer tính damage deduction và final adjusted price.</a:t>
            </a:r>
          </a:p>
        </p:txBody>
      </p:sp>
      <p:sp>
        <p:nvSpPr>
          <p:cNvPr id="8" name="Shape 8"/>
          <p:cNvSpPr/>
          <p:nvPr/>
        </p:nvSpPr>
        <p:spPr>
          <a:xfrm>
            <a:off x="6400800" y="1371600"/>
            <a:ext cx="4663440" cy="2880360"/>
          </a:xfrm>
          <a:prstGeom prst="roundRect">
            <a:avLst/>
          </a:prstGeom>
          <a:solidFill>
            <a:srgbClr val="F8FAFC"/>
          </a:solidFill>
          <a:ln w="12700">
            <a:solidFill>
              <a:srgbClr val="CBD5E1"/>
            </a:solidFill>
          </a:ln>
        </p:spPr>
      </p:sp>
      <p:sp>
        <p:nvSpPr>
          <p:cNvPr id="9" name="TextBox 9"/>
          <p:cNvSpPr txBox="1"/>
          <p:nvPr/>
        </p:nvSpPr>
        <p:spPr>
          <a:xfrm>
            <a:off x="6675120" y="1691640"/>
            <a:ext cx="4069080" cy="411480"/>
          </a:xfrm>
          <a:prstGeom prst="rect">
            <a:avLst/>
          </a:prstGeom>
          <a:noFill/>
          <a:ln>
            <a:noFill/>
          </a:ln>
        </p:spPr>
        <p:txBody>
          <a:bodyPr wrap="square" lIns="91440" tIns="45720" rIns="91440" bIns="45720"/>
          <a:lstStyle/>
          <a:p>
            <a:r>
              <a:rPr lang="vi-VN" sz="2200" b="1">
                <a:solidFill>
                  <a:srgbClr val="111827"/>
                </a:solidFill>
              </a:rPr>
              <a:t>Công thức diễn giải</a:t>
            </a:r>
          </a:p>
        </p:txBody>
      </p:sp>
      <p:sp>
        <p:nvSpPr>
          <p:cNvPr id="10" name="TextBox 10"/>
          <p:cNvSpPr txBox="1"/>
          <p:nvPr/>
        </p:nvSpPr>
        <p:spPr>
          <a:xfrm>
            <a:off x="6720840" y="2331720"/>
            <a:ext cx="3977640" cy="411480"/>
          </a:xfrm>
          <a:prstGeom prst="rect">
            <a:avLst/>
          </a:prstGeom>
          <a:noFill/>
          <a:ln>
            <a:noFill/>
          </a:ln>
        </p:spPr>
        <p:txBody>
          <a:bodyPr wrap="square" lIns="91440" tIns="45720" rIns="91440" bIns="45720"/>
          <a:lstStyle/>
          <a:p>
            <a:r>
              <a:rPr lang="vi-VN" sz="1800" b="1">
                <a:solidFill>
                  <a:srgbClr val="0F172A"/>
                </a:solidFill>
              </a:rPr>
              <a:t>Final Price = Base Price - Damage Deduction</a:t>
            </a:r>
          </a:p>
        </p:txBody>
      </p:sp>
      <p:sp>
        <p:nvSpPr>
          <p:cNvPr id="11" name="TextBox 11"/>
          <p:cNvSpPr txBox="1"/>
          <p:nvPr/>
        </p:nvSpPr>
        <p:spPr>
          <a:xfrm>
            <a:off x="6720840" y="3017520"/>
            <a:ext cx="3886200" cy="685800"/>
          </a:xfrm>
          <a:prstGeom prst="rect">
            <a:avLst/>
          </a:prstGeom>
          <a:noFill/>
          <a:ln>
            <a:noFill/>
          </a:ln>
        </p:spPr>
        <p:txBody>
          <a:bodyPr wrap="square" lIns="91440" tIns="45720" rIns="91440" bIns="45720"/>
          <a:lstStyle/>
          <a:p>
            <a:r>
              <a:rPr lang="vi-VN" sz="1500">
                <a:solidFill>
                  <a:srgbClr val="475569"/>
                </a:solidFill>
              </a:rPr>
              <a:t>Vì chưa có ground truth giá sau hư hỏng, đây là cơ chế adjustment có giải thích, không phải supervised final-price predictor.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Giao diện demo Streamlit</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Người dùng nhập thông tin xe và có thể upload ảnh hoặc bỏ qua ảnh.</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Bullets 7"/>
          <p:cNvSpPr txBox="1"/>
          <p:nvPr/>
        </p:nvSpPr>
        <p:spPr>
          <a:xfrm>
            <a:off x="731520" y="1234440"/>
            <a:ext cx="5120640" cy="2194560"/>
          </a:xfrm>
          <a:prstGeom prst="rect">
            <a:avLst/>
          </a:prstGeom>
          <a:noFill/>
          <a:ln>
            <a:noFill/>
          </a:ln>
        </p:spPr>
        <p:txBody>
          <a:bodyPr wrap="square" lIns="0" tIns="0" rIns="0" bIns="0"/>
          <a:lstStyle/>
          <a:p>
            <a:pPr marL="342900" indent="-171450">
              <a:buChar char="•"/>
            </a:pPr>
            <a:r>
              <a:rPr lang="vi-VN" sz="1800">
                <a:solidFill>
                  <a:srgbClr val="111827"/>
                </a:solidFill>
              </a:rPr>
              <a:t>Form nhập thông tin: hãng, model, năm, số km, nhiên liệu, hộp số, số chủ...</a:t>
            </a:r>
          </a:p>
          <a:p>
            <a:pPr marL="342900" indent="-171450">
              <a:buChar char="•"/>
            </a:pPr>
            <a:r>
              <a:rPr lang="vi-VN" sz="1800">
                <a:solidFill>
                  <a:srgbClr val="111827"/>
                </a:solidFill>
              </a:rPr>
              <a:t>Upload ảnh là tùy chọn.</a:t>
            </a:r>
          </a:p>
          <a:p>
            <a:pPr marL="342900" indent="-171450">
              <a:buChar char="•"/>
            </a:pPr>
            <a:r>
              <a:rPr lang="vi-VN" sz="1800">
                <a:solidFill>
                  <a:srgbClr val="111827"/>
                </a:solidFill>
              </a:rPr>
              <a:t>Nếu không upload ảnh: kết quả là base price từ XGBoost.</a:t>
            </a:r>
          </a:p>
          <a:p>
            <a:pPr marL="342900" indent="-171450">
              <a:buChar char="•"/>
            </a:pPr>
            <a:r>
              <a:rPr lang="vi-VN" sz="1800">
                <a:solidFill>
                  <a:srgbClr val="111827"/>
                </a:solidFill>
              </a:rPr>
              <a:t>Nếu upload ảnh: chạy thêm YOLO + ConvNeXt-Tiny và hiển thị adjusted price.</a:t>
            </a:r>
          </a:p>
        </p:txBody>
      </p:sp>
      <p:sp>
        <p:nvSpPr>
          <p:cNvPr id="8" name="Shape 8"/>
          <p:cNvSpPr/>
          <p:nvPr/>
        </p:nvSpPr>
        <p:spPr>
          <a:xfrm>
            <a:off x="6400800" y="1143000"/>
            <a:ext cx="4800600" cy="4389120"/>
          </a:xfrm>
          <a:prstGeom prst="roundRect">
            <a:avLst/>
          </a:prstGeom>
          <a:solidFill>
            <a:srgbClr val="F8FAFC"/>
          </a:solidFill>
          <a:ln w="12700">
            <a:solidFill>
              <a:srgbClr val="CBD5E1"/>
            </a:solidFill>
          </a:ln>
        </p:spPr>
      </p:sp>
      <p:sp>
        <p:nvSpPr>
          <p:cNvPr id="9" name="TextBox 9"/>
          <p:cNvSpPr txBox="1"/>
          <p:nvPr/>
        </p:nvSpPr>
        <p:spPr>
          <a:xfrm>
            <a:off x="6720840" y="1417320"/>
            <a:ext cx="4206240" cy="320040"/>
          </a:xfrm>
          <a:prstGeom prst="rect">
            <a:avLst/>
          </a:prstGeom>
          <a:noFill/>
          <a:ln>
            <a:noFill/>
          </a:ln>
        </p:spPr>
        <p:txBody>
          <a:bodyPr wrap="square" lIns="91440" tIns="45720" rIns="91440" bIns="45720"/>
          <a:lstStyle/>
          <a:p>
            <a:r>
              <a:rPr lang="vi-VN" sz="2200" b="1">
                <a:solidFill>
                  <a:srgbClr val="111827"/>
                </a:solidFill>
              </a:rPr>
              <a:t>Luồng demo</a:t>
            </a:r>
          </a:p>
        </p:txBody>
      </p:sp>
      <p:sp>
        <p:nvSpPr>
          <p:cNvPr id="10" name="Shape 10"/>
          <p:cNvSpPr/>
          <p:nvPr/>
        </p:nvSpPr>
        <p:spPr>
          <a:xfrm>
            <a:off x="6903720" y="1965960"/>
            <a:ext cx="3566160" cy="384048"/>
          </a:xfrm>
          <a:prstGeom prst="roundRect">
            <a:avLst/>
          </a:prstGeom>
          <a:solidFill>
            <a:srgbClr val="FFFFFF"/>
          </a:solidFill>
          <a:ln w="12700">
            <a:solidFill>
              <a:srgbClr val="CBD5E1"/>
            </a:solidFill>
          </a:ln>
        </p:spPr>
      </p:sp>
      <p:sp>
        <p:nvSpPr>
          <p:cNvPr id="11" name="TextBox 11"/>
          <p:cNvSpPr txBox="1"/>
          <p:nvPr/>
        </p:nvSpPr>
        <p:spPr>
          <a:xfrm>
            <a:off x="7040880" y="2029968"/>
            <a:ext cx="3291840" cy="201168"/>
          </a:xfrm>
          <a:prstGeom prst="rect">
            <a:avLst/>
          </a:prstGeom>
          <a:noFill/>
          <a:ln>
            <a:noFill/>
          </a:ln>
        </p:spPr>
        <p:txBody>
          <a:bodyPr wrap="square" lIns="91440" tIns="45720" rIns="91440" bIns="45720"/>
          <a:lstStyle/>
          <a:p>
            <a:pPr algn="ctr"/>
            <a:r>
              <a:rPr lang="vi-VN" sz="1300" b="1">
                <a:solidFill>
                  <a:srgbClr val="111827"/>
                </a:solidFill>
              </a:rPr>
              <a:t>Nhập dữ liệu xe</a:t>
            </a:r>
          </a:p>
        </p:txBody>
      </p:sp>
      <p:sp>
        <p:nvSpPr>
          <p:cNvPr id="12" name="Shape 12"/>
          <p:cNvSpPr/>
          <p:nvPr/>
        </p:nvSpPr>
        <p:spPr>
          <a:xfrm>
            <a:off x="8641080" y="2386584"/>
            <a:ext cx="36576" cy="201168"/>
          </a:xfrm>
          <a:prstGeom prst="rect">
            <a:avLst/>
          </a:prstGeom>
          <a:solidFill>
            <a:srgbClr val="94A3B8"/>
          </a:solidFill>
          <a:ln>
            <a:noFill/>
          </a:ln>
        </p:spPr>
      </p:sp>
      <p:sp>
        <p:nvSpPr>
          <p:cNvPr id="13" name="Shape 13"/>
          <p:cNvSpPr/>
          <p:nvPr/>
        </p:nvSpPr>
        <p:spPr>
          <a:xfrm>
            <a:off x="6903720" y="2587752"/>
            <a:ext cx="3566160" cy="384048"/>
          </a:xfrm>
          <a:prstGeom prst="roundRect">
            <a:avLst/>
          </a:prstGeom>
          <a:solidFill>
            <a:srgbClr val="FFFFFF"/>
          </a:solidFill>
          <a:ln w="12700">
            <a:solidFill>
              <a:srgbClr val="CBD5E1"/>
            </a:solidFill>
          </a:ln>
        </p:spPr>
      </p:sp>
      <p:sp>
        <p:nvSpPr>
          <p:cNvPr id="14" name="TextBox 14"/>
          <p:cNvSpPr txBox="1"/>
          <p:nvPr/>
        </p:nvSpPr>
        <p:spPr>
          <a:xfrm>
            <a:off x="7040880" y="2651760"/>
            <a:ext cx="3291840" cy="201168"/>
          </a:xfrm>
          <a:prstGeom prst="rect">
            <a:avLst/>
          </a:prstGeom>
          <a:noFill/>
          <a:ln>
            <a:noFill/>
          </a:ln>
        </p:spPr>
        <p:txBody>
          <a:bodyPr wrap="square" lIns="91440" tIns="45720" rIns="91440" bIns="45720"/>
          <a:lstStyle/>
          <a:p>
            <a:pPr algn="ctr"/>
            <a:r>
              <a:rPr lang="vi-VN" sz="1300" b="1">
                <a:solidFill>
                  <a:srgbClr val="111827"/>
                </a:solidFill>
              </a:rPr>
              <a:t>Upload ảnh optional</a:t>
            </a:r>
          </a:p>
        </p:txBody>
      </p:sp>
      <p:sp>
        <p:nvSpPr>
          <p:cNvPr id="15" name="Shape 15"/>
          <p:cNvSpPr/>
          <p:nvPr/>
        </p:nvSpPr>
        <p:spPr>
          <a:xfrm>
            <a:off x="8641080" y="3008376"/>
            <a:ext cx="36576" cy="201168"/>
          </a:xfrm>
          <a:prstGeom prst="rect">
            <a:avLst/>
          </a:prstGeom>
          <a:solidFill>
            <a:srgbClr val="94A3B8"/>
          </a:solidFill>
          <a:ln>
            <a:noFill/>
          </a:ln>
        </p:spPr>
      </p:sp>
      <p:sp>
        <p:nvSpPr>
          <p:cNvPr id="16" name="Shape 16"/>
          <p:cNvSpPr/>
          <p:nvPr/>
        </p:nvSpPr>
        <p:spPr>
          <a:xfrm>
            <a:off x="6903720" y="3209544"/>
            <a:ext cx="3566160" cy="384048"/>
          </a:xfrm>
          <a:prstGeom prst="roundRect">
            <a:avLst/>
          </a:prstGeom>
          <a:solidFill>
            <a:srgbClr val="FFFFFF"/>
          </a:solidFill>
          <a:ln w="12700">
            <a:solidFill>
              <a:srgbClr val="CBD5E1"/>
            </a:solidFill>
          </a:ln>
        </p:spPr>
      </p:sp>
      <p:sp>
        <p:nvSpPr>
          <p:cNvPr id="17" name="TextBox 17"/>
          <p:cNvSpPr txBox="1"/>
          <p:nvPr/>
        </p:nvSpPr>
        <p:spPr>
          <a:xfrm>
            <a:off x="7040880" y="3273552"/>
            <a:ext cx="3291840" cy="201168"/>
          </a:xfrm>
          <a:prstGeom prst="rect">
            <a:avLst/>
          </a:prstGeom>
          <a:noFill/>
          <a:ln>
            <a:noFill/>
          </a:ln>
        </p:spPr>
        <p:txBody>
          <a:bodyPr wrap="square" lIns="91440" tIns="45720" rIns="91440" bIns="45720"/>
          <a:lstStyle/>
          <a:p>
            <a:pPr algn="ctr"/>
            <a:r>
              <a:rPr lang="vi-VN" sz="1300" b="1">
                <a:solidFill>
                  <a:srgbClr val="111827"/>
                </a:solidFill>
              </a:rPr>
              <a:t>Analyze Car</a:t>
            </a:r>
          </a:p>
        </p:txBody>
      </p:sp>
      <p:sp>
        <p:nvSpPr>
          <p:cNvPr id="18" name="Shape 18"/>
          <p:cNvSpPr/>
          <p:nvPr/>
        </p:nvSpPr>
        <p:spPr>
          <a:xfrm>
            <a:off x="8641080" y="3630168"/>
            <a:ext cx="36576" cy="201168"/>
          </a:xfrm>
          <a:prstGeom prst="rect">
            <a:avLst/>
          </a:prstGeom>
          <a:solidFill>
            <a:srgbClr val="94A3B8"/>
          </a:solidFill>
          <a:ln>
            <a:noFill/>
          </a:ln>
        </p:spPr>
      </p:sp>
      <p:sp>
        <p:nvSpPr>
          <p:cNvPr id="19" name="Shape 19"/>
          <p:cNvSpPr/>
          <p:nvPr/>
        </p:nvSpPr>
        <p:spPr>
          <a:xfrm>
            <a:off x="6903720" y="3831336"/>
            <a:ext cx="3566160" cy="384048"/>
          </a:xfrm>
          <a:prstGeom prst="roundRect">
            <a:avLst/>
          </a:prstGeom>
          <a:solidFill>
            <a:srgbClr val="FFFFFF"/>
          </a:solidFill>
          <a:ln w="12700">
            <a:solidFill>
              <a:srgbClr val="CBD5E1"/>
            </a:solidFill>
          </a:ln>
        </p:spPr>
      </p:sp>
      <p:sp>
        <p:nvSpPr>
          <p:cNvPr id="20" name="TextBox 20"/>
          <p:cNvSpPr txBox="1"/>
          <p:nvPr/>
        </p:nvSpPr>
        <p:spPr>
          <a:xfrm>
            <a:off x="7040880" y="3895344"/>
            <a:ext cx="3291840" cy="201168"/>
          </a:xfrm>
          <a:prstGeom prst="rect">
            <a:avLst/>
          </a:prstGeom>
          <a:noFill/>
          <a:ln>
            <a:noFill/>
          </a:ln>
        </p:spPr>
        <p:txBody>
          <a:bodyPr wrap="square" lIns="91440" tIns="45720" rIns="91440" bIns="45720"/>
          <a:lstStyle/>
          <a:p>
            <a:pPr algn="ctr"/>
            <a:r>
              <a:rPr lang="vi-VN" sz="1300" b="1">
                <a:solidFill>
                  <a:srgbClr val="111827"/>
                </a:solidFill>
              </a:rPr>
              <a:t>Base price / Damage deduction</a:t>
            </a:r>
          </a:p>
        </p:txBody>
      </p:sp>
      <p:sp>
        <p:nvSpPr>
          <p:cNvPr id="21" name="Shape 21"/>
          <p:cNvSpPr/>
          <p:nvPr/>
        </p:nvSpPr>
        <p:spPr>
          <a:xfrm>
            <a:off x="8641080" y="4251960"/>
            <a:ext cx="36576" cy="201168"/>
          </a:xfrm>
          <a:prstGeom prst="rect">
            <a:avLst/>
          </a:prstGeom>
          <a:solidFill>
            <a:srgbClr val="94A3B8"/>
          </a:solidFill>
          <a:ln>
            <a:noFill/>
          </a:ln>
        </p:spPr>
      </p:sp>
      <p:sp>
        <p:nvSpPr>
          <p:cNvPr id="22" name="Shape 22"/>
          <p:cNvSpPr/>
          <p:nvPr/>
        </p:nvSpPr>
        <p:spPr>
          <a:xfrm>
            <a:off x="6903720" y="4453128"/>
            <a:ext cx="3566160" cy="384048"/>
          </a:xfrm>
          <a:prstGeom prst="roundRect">
            <a:avLst/>
          </a:prstGeom>
          <a:solidFill>
            <a:srgbClr val="FFFFFF"/>
          </a:solidFill>
          <a:ln w="12700">
            <a:solidFill>
              <a:srgbClr val="CBD5E1"/>
            </a:solidFill>
          </a:ln>
        </p:spPr>
      </p:sp>
      <p:sp>
        <p:nvSpPr>
          <p:cNvPr id="23" name="TextBox 23"/>
          <p:cNvSpPr txBox="1"/>
          <p:nvPr/>
        </p:nvSpPr>
        <p:spPr>
          <a:xfrm>
            <a:off x="7040880" y="4517136"/>
            <a:ext cx="3291840" cy="201168"/>
          </a:xfrm>
          <a:prstGeom prst="rect">
            <a:avLst/>
          </a:prstGeom>
          <a:noFill/>
          <a:ln>
            <a:noFill/>
          </a:ln>
        </p:spPr>
        <p:txBody>
          <a:bodyPr wrap="square" lIns="91440" tIns="45720" rIns="91440" bIns="45720"/>
          <a:lstStyle/>
          <a:p>
            <a:pPr algn="ctr"/>
            <a:r>
              <a:rPr lang="vi-VN" sz="1300" b="1">
                <a:solidFill>
                  <a:srgbClr val="111827"/>
                </a:solidFill>
              </a:rPr>
              <a:t>Final adjusted price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Kết quả thực nghiệm chính</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Tách rõ ba nhánh: tabular, detection và classification.</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685800" y="1234440"/>
            <a:ext cx="1828800" cy="594360"/>
          </a:xfrm>
          <a:prstGeom prst="rect">
            <a:avLst/>
          </a:prstGeom>
          <a:solidFill>
            <a:srgbClr val="F1F5F9"/>
          </a:solidFill>
          <a:ln w="12700">
            <a:solidFill>
              <a:srgbClr val="E2E8F0"/>
            </a:solidFill>
          </a:ln>
        </p:spPr>
      </p:sp>
      <p:sp>
        <p:nvSpPr>
          <p:cNvPr id="8" name="TextBox 8"/>
          <p:cNvSpPr txBox="1"/>
          <p:nvPr/>
        </p:nvSpPr>
        <p:spPr>
          <a:xfrm>
            <a:off x="722376" y="1298448"/>
            <a:ext cx="1755648" cy="521208"/>
          </a:xfrm>
          <a:prstGeom prst="rect">
            <a:avLst/>
          </a:prstGeom>
          <a:noFill/>
          <a:ln>
            <a:noFill/>
          </a:ln>
        </p:spPr>
        <p:txBody>
          <a:bodyPr wrap="square" lIns="91440" tIns="45720" rIns="91440" bIns="45720"/>
          <a:lstStyle/>
          <a:p>
            <a:r>
              <a:rPr lang="vi-VN" sz="1100" b="1">
                <a:solidFill>
                  <a:srgbClr val="0F172A"/>
                </a:solidFill>
              </a:rPr>
              <a:t>Mô-đun</a:t>
            </a:r>
          </a:p>
        </p:txBody>
      </p:sp>
      <p:sp>
        <p:nvSpPr>
          <p:cNvPr id="9" name="Shape 9"/>
          <p:cNvSpPr/>
          <p:nvPr/>
        </p:nvSpPr>
        <p:spPr>
          <a:xfrm>
            <a:off x="2514600" y="1234440"/>
            <a:ext cx="2834640" cy="594360"/>
          </a:xfrm>
          <a:prstGeom prst="rect">
            <a:avLst/>
          </a:prstGeom>
          <a:solidFill>
            <a:srgbClr val="F1F5F9"/>
          </a:solidFill>
          <a:ln w="12700">
            <a:solidFill>
              <a:srgbClr val="E2E8F0"/>
            </a:solidFill>
          </a:ln>
        </p:spPr>
      </p:sp>
      <p:sp>
        <p:nvSpPr>
          <p:cNvPr id="10" name="TextBox 10"/>
          <p:cNvSpPr txBox="1"/>
          <p:nvPr/>
        </p:nvSpPr>
        <p:spPr>
          <a:xfrm>
            <a:off x="2551176" y="1298448"/>
            <a:ext cx="2761488" cy="521208"/>
          </a:xfrm>
          <a:prstGeom prst="rect">
            <a:avLst/>
          </a:prstGeom>
          <a:noFill/>
          <a:ln>
            <a:noFill/>
          </a:ln>
        </p:spPr>
        <p:txBody>
          <a:bodyPr wrap="square" lIns="91440" tIns="45720" rIns="91440" bIns="45720"/>
          <a:lstStyle/>
          <a:p>
            <a:r>
              <a:rPr lang="vi-VN" sz="1100" b="1">
                <a:solidFill>
                  <a:srgbClr val="0F172A"/>
                </a:solidFill>
              </a:rPr>
              <a:t>Mô hình chính</a:t>
            </a:r>
          </a:p>
        </p:txBody>
      </p:sp>
      <p:sp>
        <p:nvSpPr>
          <p:cNvPr id="11" name="Shape 11"/>
          <p:cNvSpPr/>
          <p:nvPr/>
        </p:nvSpPr>
        <p:spPr>
          <a:xfrm>
            <a:off x="5349240" y="1234440"/>
            <a:ext cx="6126480" cy="594360"/>
          </a:xfrm>
          <a:prstGeom prst="rect">
            <a:avLst/>
          </a:prstGeom>
          <a:solidFill>
            <a:srgbClr val="F1F5F9"/>
          </a:solidFill>
          <a:ln w="12700">
            <a:solidFill>
              <a:srgbClr val="E2E8F0"/>
            </a:solidFill>
          </a:ln>
        </p:spPr>
      </p:sp>
      <p:sp>
        <p:nvSpPr>
          <p:cNvPr id="12" name="TextBox 12"/>
          <p:cNvSpPr txBox="1"/>
          <p:nvPr/>
        </p:nvSpPr>
        <p:spPr>
          <a:xfrm>
            <a:off x="5385816" y="1298448"/>
            <a:ext cx="6053328" cy="521208"/>
          </a:xfrm>
          <a:prstGeom prst="rect">
            <a:avLst/>
          </a:prstGeom>
          <a:noFill/>
          <a:ln>
            <a:noFill/>
          </a:ln>
        </p:spPr>
        <p:txBody>
          <a:bodyPr wrap="square" lIns="91440" tIns="45720" rIns="91440" bIns="45720"/>
          <a:lstStyle/>
          <a:p>
            <a:r>
              <a:rPr lang="vi-VN" sz="1100" b="1">
                <a:solidFill>
                  <a:srgbClr val="0F172A"/>
                </a:solidFill>
              </a:rPr>
              <a:t>Kết quả / vai trò</a:t>
            </a:r>
          </a:p>
        </p:txBody>
      </p:sp>
      <p:sp>
        <p:nvSpPr>
          <p:cNvPr id="13" name="Shape 13"/>
          <p:cNvSpPr/>
          <p:nvPr/>
        </p:nvSpPr>
        <p:spPr>
          <a:xfrm>
            <a:off x="685800" y="1828800"/>
            <a:ext cx="1828800" cy="594360"/>
          </a:xfrm>
          <a:prstGeom prst="rect">
            <a:avLst/>
          </a:prstGeom>
          <a:solidFill>
            <a:srgbClr val="FFFFFF"/>
          </a:solidFill>
          <a:ln w="12700">
            <a:solidFill>
              <a:srgbClr val="E2E8F0"/>
            </a:solidFill>
          </a:ln>
        </p:spPr>
      </p:sp>
      <p:sp>
        <p:nvSpPr>
          <p:cNvPr id="14" name="TextBox 14"/>
          <p:cNvSpPr txBox="1"/>
          <p:nvPr/>
        </p:nvSpPr>
        <p:spPr>
          <a:xfrm>
            <a:off x="722376" y="1892808"/>
            <a:ext cx="1755648" cy="521208"/>
          </a:xfrm>
          <a:prstGeom prst="rect">
            <a:avLst/>
          </a:prstGeom>
          <a:noFill/>
          <a:ln>
            <a:noFill/>
          </a:ln>
        </p:spPr>
        <p:txBody>
          <a:bodyPr wrap="square" lIns="91440" tIns="45720" rIns="91440" bIns="45720"/>
          <a:lstStyle/>
          <a:p>
            <a:r>
              <a:rPr lang="vi-VN" sz="1000">
                <a:solidFill>
                  <a:srgbClr val="0F172A"/>
                </a:solidFill>
              </a:rPr>
              <a:t>Tabular</a:t>
            </a:r>
          </a:p>
        </p:txBody>
      </p:sp>
      <p:sp>
        <p:nvSpPr>
          <p:cNvPr id="15" name="Shape 15"/>
          <p:cNvSpPr/>
          <p:nvPr/>
        </p:nvSpPr>
        <p:spPr>
          <a:xfrm>
            <a:off x="2514600" y="1828800"/>
            <a:ext cx="2834640" cy="594360"/>
          </a:xfrm>
          <a:prstGeom prst="rect">
            <a:avLst/>
          </a:prstGeom>
          <a:solidFill>
            <a:srgbClr val="FFFFFF"/>
          </a:solidFill>
          <a:ln w="12700">
            <a:solidFill>
              <a:srgbClr val="E2E8F0"/>
            </a:solidFill>
          </a:ln>
        </p:spPr>
      </p:sp>
      <p:sp>
        <p:nvSpPr>
          <p:cNvPr id="16" name="TextBox 16"/>
          <p:cNvSpPr txBox="1"/>
          <p:nvPr/>
        </p:nvSpPr>
        <p:spPr>
          <a:xfrm>
            <a:off x="2551176" y="1892808"/>
            <a:ext cx="2761488" cy="521208"/>
          </a:xfrm>
          <a:prstGeom prst="rect">
            <a:avLst/>
          </a:prstGeom>
          <a:noFill/>
          <a:ln>
            <a:noFill/>
          </a:ln>
        </p:spPr>
        <p:txBody>
          <a:bodyPr wrap="square" lIns="91440" tIns="45720" rIns="91440" bIns="45720"/>
          <a:lstStyle/>
          <a:p>
            <a:r>
              <a:rPr lang="vi-VN" sz="1000">
                <a:solidFill>
                  <a:srgbClr val="0F172A"/>
                </a:solidFill>
              </a:rPr>
              <a:t>XGBoost</a:t>
            </a:r>
          </a:p>
        </p:txBody>
      </p:sp>
      <p:sp>
        <p:nvSpPr>
          <p:cNvPr id="17" name="Shape 17"/>
          <p:cNvSpPr/>
          <p:nvPr/>
        </p:nvSpPr>
        <p:spPr>
          <a:xfrm>
            <a:off x="5349240" y="1828800"/>
            <a:ext cx="6126480" cy="594360"/>
          </a:xfrm>
          <a:prstGeom prst="rect">
            <a:avLst/>
          </a:prstGeom>
          <a:solidFill>
            <a:srgbClr val="FFFFFF"/>
          </a:solidFill>
          <a:ln w="12700">
            <a:solidFill>
              <a:srgbClr val="E2E8F0"/>
            </a:solidFill>
          </a:ln>
        </p:spPr>
      </p:sp>
      <p:sp>
        <p:nvSpPr>
          <p:cNvPr id="18" name="TextBox 18"/>
          <p:cNvSpPr txBox="1"/>
          <p:nvPr/>
        </p:nvSpPr>
        <p:spPr>
          <a:xfrm>
            <a:off x="5385816" y="1892808"/>
            <a:ext cx="6053328" cy="521208"/>
          </a:xfrm>
          <a:prstGeom prst="rect">
            <a:avLst/>
          </a:prstGeom>
          <a:noFill/>
          <a:ln>
            <a:noFill/>
          </a:ln>
        </p:spPr>
        <p:txBody>
          <a:bodyPr wrap="square" lIns="91440" tIns="45720" rIns="91440" bIns="45720"/>
          <a:lstStyle/>
          <a:p>
            <a:r>
              <a:rPr lang="vi-VN" sz="1000">
                <a:solidFill>
                  <a:srgbClr val="0F172A"/>
                </a:solidFill>
              </a:rPr>
              <a:t>R² test ≈ 0,9367; dùng làm base price</a:t>
            </a:r>
          </a:p>
        </p:txBody>
      </p:sp>
      <p:sp>
        <p:nvSpPr>
          <p:cNvPr id="19" name="Shape 19"/>
          <p:cNvSpPr/>
          <p:nvPr/>
        </p:nvSpPr>
        <p:spPr>
          <a:xfrm>
            <a:off x="685800" y="2423160"/>
            <a:ext cx="1828800" cy="594360"/>
          </a:xfrm>
          <a:prstGeom prst="rect">
            <a:avLst/>
          </a:prstGeom>
          <a:solidFill>
            <a:srgbClr val="FFFFFF"/>
          </a:solidFill>
          <a:ln w="12700">
            <a:solidFill>
              <a:srgbClr val="E2E8F0"/>
            </a:solidFill>
          </a:ln>
        </p:spPr>
      </p:sp>
      <p:sp>
        <p:nvSpPr>
          <p:cNvPr id="20" name="TextBox 20"/>
          <p:cNvSpPr txBox="1"/>
          <p:nvPr/>
        </p:nvSpPr>
        <p:spPr>
          <a:xfrm>
            <a:off x="722376" y="2487168"/>
            <a:ext cx="1755648" cy="521208"/>
          </a:xfrm>
          <a:prstGeom prst="rect">
            <a:avLst/>
          </a:prstGeom>
          <a:noFill/>
          <a:ln>
            <a:noFill/>
          </a:ln>
        </p:spPr>
        <p:txBody>
          <a:bodyPr wrap="square" lIns="91440" tIns="45720" rIns="91440" bIns="45720"/>
          <a:lstStyle/>
          <a:p>
            <a:r>
              <a:rPr lang="vi-VN" sz="1000">
                <a:solidFill>
                  <a:srgbClr val="0F172A"/>
                </a:solidFill>
              </a:rPr>
              <a:t>YOLO</a:t>
            </a:r>
          </a:p>
        </p:txBody>
      </p:sp>
      <p:sp>
        <p:nvSpPr>
          <p:cNvPr id="21" name="Shape 21"/>
          <p:cNvSpPr/>
          <p:nvPr/>
        </p:nvSpPr>
        <p:spPr>
          <a:xfrm>
            <a:off x="2514600" y="2423160"/>
            <a:ext cx="2834640" cy="594360"/>
          </a:xfrm>
          <a:prstGeom prst="rect">
            <a:avLst/>
          </a:prstGeom>
          <a:solidFill>
            <a:srgbClr val="FFFFFF"/>
          </a:solidFill>
          <a:ln w="12700">
            <a:solidFill>
              <a:srgbClr val="E2E8F0"/>
            </a:solidFill>
          </a:ln>
        </p:spPr>
      </p:sp>
      <p:sp>
        <p:nvSpPr>
          <p:cNvPr id="22" name="TextBox 22"/>
          <p:cNvSpPr txBox="1"/>
          <p:nvPr/>
        </p:nvSpPr>
        <p:spPr>
          <a:xfrm>
            <a:off x="2551176" y="2487168"/>
            <a:ext cx="2761488" cy="521208"/>
          </a:xfrm>
          <a:prstGeom prst="rect">
            <a:avLst/>
          </a:prstGeom>
          <a:noFill/>
          <a:ln>
            <a:noFill/>
          </a:ln>
        </p:spPr>
        <p:txBody>
          <a:bodyPr wrap="square" lIns="91440" tIns="45720" rIns="91440" bIns="45720"/>
          <a:lstStyle/>
          <a:p>
            <a:r>
              <a:rPr lang="vi-VN" sz="1000">
                <a:solidFill>
                  <a:srgbClr val="0F172A"/>
                </a:solidFill>
              </a:rPr>
              <a:t>YOLOv8s merge_Data</a:t>
            </a:r>
          </a:p>
        </p:txBody>
      </p:sp>
      <p:sp>
        <p:nvSpPr>
          <p:cNvPr id="23" name="Shape 23"/>
          <p:cNvSpPr/>
          <p:nvPr/>
        </p:nvSpPr>
        <p:spPr>
          <a:xfrm>
            <a:off x="5349240" y="2423160"/>
            <a:ext cx="6126480" cy="594360"/>
          </a:xfrm>
          <a:prstGeom prst="rect">
            <a:avLst/>
          </a:prstGeom>
          <a:solidFill>
            <a:srgbClr val="FFFFFF"/>
          </a:solidFill>
          <a:ln w="12700">
            <a:solidFill>
              <a:srgbClr val="E2E8F0"/>
            </a:solidFill>
          </a:ln>
        </p:spPr>
      </p:sp>
      <p:sp>
        <p:nvSpPr>
          <p:cNvPr id="24" name="TextBox 24"/>
          <p:cNvSpPr txBox="1"/>
          <p:nvPr/>
        </p:nvSpPr>
        <p:spPr>
          <a:xfrm>
            <a:off x="5385816" y="2487168"/>
            <a:ext cx="6053328" cy="521208"/>
          </a:xfrm>
          <a:prstGeom prst="rect">
            <a:avLst/>
          </a:prstGeom>
          <a:noFill/>
          <a:ln>
            <a:noFill/>
          </a:ln>
        </p:spPr>
        <p:txBody>
          <a:bodyPr wrap="square" lIns="91440" tIns="45720" rIns="91440" bIns="45720"/>
          <a:lstStyle/>
          <a:p>
            <a:r>
              <a:rPr lang="vi-VN" sz="1000">
                <a:solidFill>
                  <a:srgbClr val="0F172A"/>
                </a:solidFill>
              </a:rPr>
              <a:t>mAP@0.5 ≈ 0,726; phát hiện vùng hư hỏng</a:t>
            </a:r>
          </a:p>
        </p:txBody>
      </p:sp>
      <p:sp>
        <p:nvSpPr>
          <p:cNvPr id="25" name="Shape 25"/>
          <p:cNvSpPr/>
          <p:nvPr/>
        </p:nvSpPr>
        <p:spPr>
          <a:xfrm>
            <a:off x="685800" y="3017520"/>
            <a:ext cx="1828800" cy="594360"/>
          </a:xfrm>
          <a:prstGeom prst="rect">
            <a:avLst/>
          </a:prstGeom>
          <a:solidFill>
            <a:srgbClr val="FFFFFF"/>
          </a:solidFill>
          <a:ln w="12700">
            <a:solidFill>
              <a:srgbClr val="E2E8F0"/>
            </a:solidFill>
          </a:ln>
        </p:spPr>
      </p:sp>
      <p:sp>
        <p:nvSpPr>
          <p:cNvPr id="26" name="TextBox 26"/>
          <p:cNvSpPr txBox="1"/>
          <p:nvPr/>
        </p:nvSpPr>
        <p:spPr>
          <a:xfrm>
            <a:off x="722376" y="3081528"/>
            <a:ext cx="1755648" cy="521208"/>
          </a:xfrm>
          <a:prstGeom prst="rect">
            <a:avLst/>
          </a:prstGeom>
          <a:noFill/>
          <a:ln>
            <a:noFill/>
          </a:ln>
        </p:spPr>
        <p:txBody>
          <a:bodyPr wrap="square" lIns="91440" tIns="45720" rIns="91440" bIns="45720"/>
          <a:lstStyle/>
          <a:p>
            <a:r>
              <a:rPr lang="vi-VN" sz="1000">
                <a:solidFill>
                  <a:srgbClr val="0F172A"/>
                </a:solidFill>
              </a:rPr>
              <a:t>CNN</a:t>
            </a:r>
          </a:p>
        </p:txBody>
      </p:sp>
      <p:sp>
        <p:nvSpPr>
          <p:cNvPr id="27" name="Shape 27"/>
          <p:cNvSpPr/>
          <p:nvPr/>
        </p:nvSpPr>
        <p:spPr>
          <a:xfrm>
            <a:off x="2514600" y="3017520"/>
            <a:ext cx="2834640" cy="594360"/>
          </a:xfrm>
          <a:prstGeom prst="rect">
            <a:avLst/>
          </a:prstGeom>
          <a:solidFill>
            <a:srgbClr val="FFFFFF"/>
          </a:solidFill>
          <a:ln w="12700">
            <a:solidFill>
              <a:srgbClr val="E2E8F0"/>
            </a:solidFill>
          </a:ln>
        </p:spPr>
      </p:sp>
      <p:sp>
        <p:nvSpPr>
          <p:cNvPr id="28" name="TextBox 28"/>
          <p:cNvSpPr txBox="1"/>
          <p:nvPr/>
        </p:nvSpPr>
        <p:spPr>
          <a:xfrm>
            <a:off x="2551176" y="3081528"/>
            <a:ext cx="2761488" cy="521208"/>
          </a:xfrm>
          <a:prstGeom prst="rect">
            <a:avLst/>
          </a:prstGeom>
          <a:noFill/>
          <a:ln>
            <a:noFill/>
          </a:ln>
        </p:spPr>
        <p:txBody>
          <a:bodyPr wrap="square" lIns="91440" tIns="45720" rIns="91440" bIns="45720"/>
          <a:lstStyle/>
          <a:p>
            <a:r>
              <a:rPr lang="vi-VN" sz="1000">
                <a:solidFill>
                  <a:srgbClr val="0F172A"/>
                </a:solidFill>
              </a:rPr>
              <a:t>ConvNeXt-Tiny</a:t>
            </a:r>
          </a:p>
        </p:txBody>
      </p:sp>
      <p:sp>
        <p:nvSpPr>
          <p:cNvPr id="29" name="Shape 29"/>
          <p:cNvSpPr/>
          <p:nvPr/>
        </p:nvSpPr>
        <p:spPr>
          <a:xfrm>
            <a:off x="5349240" y="3017520"/>
            <a:ext cx="6126480" cy="594360"/>
          </a:xfrm>
          <a:prstGeom prst="rect">
            <a:avLst/>
          </a:prstGeom>
          <a:solidFill>
            <a:srgbClr val="FFFFFF"/>
          </a:solidFill>
          <a:ln w="12700">
            <a:solidFill>
              <a:srgbClr val="E2E8F0"/>
            </a:solidFill>
          </a:ln>
        </p:spPr>
      </p:sp>
      <p:sp>
        <p:nvSpPr>
          <p:cNvPr id="30" name="TextBox 30"/>
          <p:cNvSpPr txBox="1"/>
          <p:nvPr/>
        </p:nvSpPr>
        <p:spPr>
          <a:xfrm>
            <a:off x="5385816" y="3081528"/>
            <a:ext cx="6053328" cy="521208"/>
          </a:xfrm>
          <a:prstGeom prst="rect">
            <a:avLst/>
          </a:prstGeom>
          <a:noFill/>
          <a:ln>
            <a:noFill/>
          </a:ln>
        </p:spPr>
        <p:txBody>
          <a:bodyPr wrap="square" lIns="91440" tIns="45720" rIns="91440" bIns="45720"/>
          <a:lstStyle/>
          <a:p>
            <a:r>
              <a:rPr lang="vi-VN" sz="1000">
                <a:solidFill>
                  <a:srgbClr val="0F172A"/>
                </a:solidFill>
              </a:rPr>
              <a:t>Test acc ≈ 0,7077; macro F1 ≈ 0,7084</a:t>
            </a:r>
          </a:p>
        </p:txBody>
      </p:sp>
      <p:sp>
        <p:nvSpPr>
          <p:cNvPr id="31" name="Shape 31"/>
          <p:cNvSpPr/>
          <p:nvPr/>
        </p:nvSpPr>
        <p:spPr>
          <a:xfrm>
            <a:off x="685800" y="3611880"/>
            <a:ext cx="1828800" cy="594360"/>
          </a:xfrm>
          <a:prstGeom prst="rect">
            <a:avLst/>
          </a:prstGeom>
          <a:solidFill>
            <a:srgbClr val="FFFFFF"/>
          </a:solidFill>
          <a:ln w="12700">
            <a:solidFill>
              <a:srgbClr val="E2E8F0"/>
            </a:solidFill>
          </a:ln>
        </p:spPr>
      </p:sp>
      <p:sp>
        <p:nvSpPr>
          <p:cNvPr id="32" name="TextBox 32"/>
          <p:cNvSpPr txBox="1"/>
          <p:nvPr/>
        </p:nvSpPr>
        <p:spPr>
          <a:xfrm>
            <a:off x="722376" y="3675888"/>
            <a:ext cx="1755648" cy="521208"/>
          </a:xfrm>
          <a:prstGeom prst="rect">
            <a:avLst/>
          </a:prstGeom>
          <a:noFill/>
          <a:ln>
            <a:noFill/>
          </a:ln>
        </p:spPr>
        <p:txBody>
          <a:bodyPr wrap="square" lIns="91440" tIns="45720" rIns="91440" bIns="45720"/>
          <a:lstStyle/>
          <a:p>
            <a:r>
              <a:rPr lang="vi-VN" sz="1000">
                <a:solidFill>
                  <a:srgbClr val="0F172A"/>
                </a:solidFill>
              </a:rPr>
              <a:t>Adjustment</a:t>
            </a:r>
          </a:p>
        </p:txBody>
      </p:sp>
      <p:sp>
        <p:nvSpPr>
          <p:cNvPr id="33" name="Shape 33"/>
          <p:cNvSpPr/>
          <p:nvPr/>
        </p:nvSpPr>
        <p:spPr>
          <a:xfrm>
            <a:off x="2514600" y="3611880"/>
            <a:ext cx="2834640" cy="594360"/>
          </a:xfrm>
          <a:prstGeom prst="rect">
            <a:avLst/>
          </a:prstGeom>
          <a:solidFill>
            <a:srgbClr val="FFFFFF"/>
          </a:solidFill>
          <a:ln w="12700">
            <a:solidFill>
              <a:srgbClr val="E2E8F0"/>
            </a:solidFill>
          </a:ln>
        </p:spPr>
      </p:sp>
      <p:sp>
        <p:nvSpPr>
          <p:cNvPr id="34" name="TextBox 34"/>
          <p:cNvSpPr txBox="1"/>
          <p:nvPr/>
        </p:nvSpPr>
        <p:spPr>
          <a:xfrm>
            <a:off x="2551176" y="3675888"/>
            <a:ext cx="2761488" cy="521208"/>
          </a:xfrm>
          <a:prstGeom prst="rect">
            <a:avLst/>
          </a:prstGeom>
          <a:noFill/>
          <a:ln>
            <a:noFill/>
          </a:ln>
        </p:spPr>
        <p:txBody>
          <a:bodyPr wrap="square" lIns="91440" tIns="45720" rIns="91440" bIns="45720"/>
          <a:lstStyle/>
          <a:p>
            <a:r>
              <a:rPr lang="vi-VN" sz="1000">
                <a:solidFill>
                  <a:srgbClr val="0F172A"/>
                </a:solidFill>
              </a:rPr>
              <a:t>Rule-based</a:t>
            </a:r>
          </a:p>
        </p:txBody>
      </p:sp>
      <p:sp>
        <p:nvSpPr>
          <p:cNvPr id="35" name="Shape 35"/>
          <p:cNvSpPr/>
          <p:nvPr/>
        </p:nvSpPr>
        <p:spPr>
          <a:xfrm>
            <a:off x="5349240" y="3611880"/>
            <a:ext cx="6126480" cy="594360"/>
          </a:xfrm>
          <a:prstGeom prst="rect">
            <a:avLst/>
          </a:prstGeom>
          <a:solidFill>
            <a:srgbClr val="FFFFFF"/>
          </a:solidFill>
          <a:ln w="12700">
            <a:solidFill>
              <a:srgbClr val="E2E8F0"/>
            </a:solidFill>
          </a:ln>
        </p:spPr>
      </p:sp>
      <p:sp>
        <p:nvSpPr>
          <p:cNvPr id="36" name="TextBox 36"/>
          <p:cNvSpPr txBox="1"/>
          <p:nvPr/>
        </p:nvSpPr>
        <p:spPr>
          <a:xfrm>
            <a:off x="5385816" y="3675888"/>
            <a:ext cx="6053328" cy="521208"/>
          </a:xfrm>
          <a:prstGeom prst="rect">
            <a:avLst/>
          </a:prstGeom>
          <a:noFill/>
          <a:ln>
            <a:noFill/>
          </a:ln>
        </p:spPr>
        <p:txBody>
          <a:bodyPr wrap="square" lIns="91440" tIns="45720" rIns="91440" bIns="45720"/>
          <a:lstStyle/>
          <a:p>
            <a:r>
              <a:rPr lang="vi-VN" sz="1000">
                <a:solidFill>
                  <a:srgbClr val="0F172A"/>
                </a:solidFill>
              </a:rPr>
              <a:t>Tính mức giảm giá có giải thích</a:t>
            </a:r>
          </a:p>
        </p:txBody>
      </p:sp>
      <p:sp>
        <p:nvSpPr>
          <p:cNvPr id="37" name="TextBox 37"/>
          <p:cNvSpPr txBox="1"/>
          <p:nvPr/>
        </p:nvSpPr>
        <p:spPr>
          <a:xfrm>
            <a:off x="822960" y="4892040"/>
            <a:ext cx="10424160" cy="658368"/>
          </a:xfrm>
          <a:prstGeom prst="roundRect">
            <a:avLst/>
          </a:prstGeom>
          <a:solidFill>
            <a:srgbClr val="F8FAFC"/>
          </a:solidFill>
          <a:ln w="12700">
            <a:solidFill>
              <a:srgbClr val="E2E8F0"/>
            </a:solidFill>
          </a:ln>
        </p:spPr>
        <p:txBody>
          <a:bodyPr wrap="square" lIns="91440" tIns="45720" rIns="91440" bIns="45720"/>
          <a:lstStyle/>
          <a:p>
            <a:r>
              <a:rPr lang="vi-VN" sz="1700">
                <a:solidFill>
                  <a:srgbClr val="111827"/>
                </a:solidFill>
              </a:rPr>
              <a:t>Nhận xét: pipeline hoạt động theo hướng mô-đun, dễ kiểm tra từng thành phần. Điểm quan trọng là không đánh đồng adjusted price với ground truth giá sau hư hỏng.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Hạn chế hiện tại</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Các hạn chế này nên được trình bày thẳng thắn vì chúng định hướng phần phát triển tiếp theo.</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Bullets 7"/>
          <p:cNvSpPr txBox="1"/>
          <p:nvPr/>
        </p:nvSpPr>
        <p:spPr>
          <a:xfrm>
            <a:off x="731520" y="1234440"/>
            <a:ext cx="10515600" cy="3840480"/>
          </a:xfrm>
          <a:prstGeom prst="rect">
            <a:avLst/>
          </a:prstGeom>
          <a:noFill/>
          <a:ln>
            <a:noFill/>
          </a:ln>
        </p:spPr>
        <p:txBody>
          <a:bodyPr wrap="square" lIns="0" tIns="0" rIns="0" bIns="0"/>
          <a:lstStyle/>
          <a:p>
            <a:pPr marL="342900" indent="-171450">
              <a:buChar char="•"/>
            </a:pPr>
            <a:r>
              <a:rPr lang="vi-VN" sz="2000">
                <a:solidFill>
                  <a:srgbClr val="111827"/>
                </a:solidFill>
              </a:rPr>
              <a:t>Chưa có dataset multimodal đồng bộ theo từng xe gồm dữ liệu bảng, ảnh và giá sau hư hỏng.</a:t>
            </a:r>
          </a:p>
          <a:p>
            <a:pPr marL="342900" indent="-171450">
              <a:buChar char="•"/>
            </a:pPr>
            <a:r>
              <a:rPr lang="vi-VN" sz="2000">
                <a:solidFill>
                  <a:srgbClr val="111827"/>
                </a:solidFill>
              </a:rPr>
              <a:t>Chưa có ground truth cho final price after damage, nên tầng cuối vẫn là rule-based.</a:t>
            </a:r>
          </a:p>
          <a:p>
            <a:pPr marL="342900" indent="-171450">
              <a:buChar char="•"/>
            </a:pPr>
            <a:r>
              <a:rPr lang="vi-VN" sz="2000">
                <a:solidFill>
                  <a:srgbClr val="111827"/>
                </a:solidFill>
              </a:rPr>
              <a:t>Dữ liệu ảnh có thể có label noise, đặc biệt với vết xước/móp/nứt mờ.</a:t>
            </a:r>
          </a:p>
          <a:p>
            <a:pPr marL="342900" indent="-171450">
              <a:buChar char="•"/>
            </a:pPr>
            <a:r>
              <a:rPr lang="vi-VN" sz="2000">
                <a:solidFill>
                  <a:srgbClr val="111827"/>
                </a:solidFill>
              </a:rPr>
              <a:t>Phân bố nhãn YOLO không đều; scratch và dent chiếm tỷ trọng lớn.</a:t>
            </a:r>
          </a:p>
          <a:p>
            <a:pPr marL="342900" indent="-171450">
              <a:buChar char="•"/>
            </a:pPr>
            <a:r>
              <a:rPr lang="vi-VN" sz="2000">
                <a:solidFill>
                  <a:srgbClr val="111827"/>
                </a:solidFill>
              </a:rPr>
              <a:t>Severity classification còn khó vì nhãn moderate có tính chủ quan và dễ nhập nhằng.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Hướng phát triển</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Ưu tiên cải thiện dữ liệu và đánh giá thực tế trước khi mở rộng mô hình.</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Bullets 7"/>
          <p:cNvSpPr txBox="1"/>
          <p:nvPr/>
        </p:nvSpPr>
        <p:spPr>
          <a:xfrm>
            <a:off x="731520" y="1234440"/>
            <a:ext cx="10515600" cy="4023360"/>
          </a:xfrm>
          <a:prstGeom prst="rect">
            <a:avLst/>
          </a:prstGeom>
          <a:noFill/>
          <a:ln>
            <a:noFill/>
          </a:ln>
        </p:spPr>
        <p:txBody>
          <a:bodyPr wrap="square" lIns="0" tIns="0" rIns="0" bIns="0"/>
          <a:lstStyle/>
          <a:p>
            <a:pPr marL="342900" indent="-171450">
              <a:buChar char="•"/>
            </a:pPr>
            <a:r>
              <a:rPr lang="vi-VN" sz="2000">
                <a:solidFill>
                  <a:srgbClr val="111827"/>
                </a:solidFill>
              </a:rPr>
              <a:t>Thu thập dataset đồng bộ hơn: thông tin xe, ảnh hư hỏng và giá giao dịch/giá sau sửa chữa.</a:t>
            </a:r>
          </a:p>
          <a:p>
            <a:pPr marL="342900" indent="-171450">
              <a:buChar char="•"/>
            </a:pPr>
            <a:r>
              <a:rPr lang="vi-VN" sz="2000">
                <a:solidFill>
                  <a:srgbClr val="111827"/>
                </a:solidFill>
              </a:rPr>
              <a:t>Audit lại nhãn ảnh, đặc biệt các lớp crack, scratch, dent và nhãn severity moderate.</a:t>
            </a:r>
          </a:p>
          <a:p>
            <a:pPr marL="342900" indent="-171450">
              <a:buChar char="•"/>
            </a:pPr>
            <a:r>
              <a:rPr lang="vi-VN" sz="2000">
                <a:solidFill>
                  <a:srgbClr val="111827"/>
                </a:solidFill>
              </a:rPr>
              <a:t>Bổ sung ảnh từ nhiều góc chụp, điều kiện ánh sáng, màu xe và mức độ hư hỏng khác nhau.</a:t>
            </a:r>
          </a:p>
          <a:p>
            <a:pPr marL="342900" indent="-171450">
              <a:buChar char="•"/>
            </a:pPr>
            <a:r>
              <a:rPr lang="vi-VN" sz="2000">
                <a:solidFill>
                  <a:srgbClr val="111827"/>
                </a:solidFill>
              </a:rPr>
              <a:t>Thử nghiệm calibration cho confidence của YOLO/CNN trước khi đưa vào rule-based adjustment.</a:t>
            </a:r>
          </a:p>
          <a:p>
            <a:pPr marL="342900" indent="-171450">
              <a:buChar char="•"/>
            </a:pPr>
            <a:r>
              <a:rPr lang="vi-VN" sz="2000">
                <a:solidFill>
                  <a:srgbClr val="111827"/>
                </a:solidFill>
              </a:rPr>
              <a:t>Đóng gói demo ổn định hơn, thêm test script và tài liệu hướng dẫn chạy.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
        <p:nvSpPr>
          <p:cNvPr id="3" name="TextBox 3"/>
          <p:cNvSpPr txBox="1"/>
          <p:nvPr/>
        </p:nvSpPr>
        <p:spPr>
          <a:xfrm>
            <a:off x="502920" y="320040"/>
            <a:ext cx="11155680" cy="502920"/>
          </a:xfrm>
          <a:prstGeom prst="rect">
            <a:avLst/>
          </a:prstGeom>
          <a:noFill/>
          <a:ln>
            <a:noFill/>
          </a:ln>
        </p:spPr>
        <p:txBody>
          <a:bodyPr wrap="square" lIns="91440" tIns="45720" rIns="91440" bIns="45720"/>
          <a:lstStyle/>
          <a:p>
            <a:r>
              <a:rPr lang="vi-VN" sz="3000" b="1">
                <a:solidFill>
                  <a:srgbClr val="0F172A"/>
                </a:solidFill>
              </a:rPr>
              <a:t>Kết luận</a:t>
            </a:r>
          </a:p>
        </p:txBody>
      </p:sp>
      <p:sp>
        <p:nvSpPr>
          <p:cNvPr id="4" name="TextBox 4"/>
          <p:cNvSpPr txBox="1"/>
          <p:nvPr/>
        </p:nvSpPr>
        <p:spPr>
          <a:xfrm>
            <a:off x="530352" y="841248"/>
            <a:ext cx="10881360" cy="292608"/>
          </a:xfrm>
          <a:prstGeom prst="rect">
            <a:avLst/>
          </a:prstGeom>
          <a:noFill/>
          <a:ln>
            <a:noFill/>
          </a:ln>
        </p:spPr>
        <p:txBody>
          <a:bodyPr wrap="square" lIns="91440" tIns="45720" rIns="91440" bIns="45720"/>
          <a:lstStyle/>
          <a:p>
            <a:r>
              <a:rPr lang="vi-VN" sz="1300">
                <a:solidFill>
                  <a:srgbClr val="64748B"/>
                </a:solidFill>
              </a:rPr>
              <a:t>Dự án đã xây dựng được pipeline demo hoàn chỉnh cho bài toán định giá xe cũ có xét đến ảnh hư hỏng.</a:t>
            </a:r>
          </a:p>
        </p:txBody>
      </p:sp>
      <p:sp>
        <p:nvSpPr>
          <p:cNvPr id="5" name="Shape 5"/>
          <p:cNvSpPr/>
          <p:nvPr/>
        </p:nvSpPr>
        <p:spPr>
          <a:xfrm>
            <a:off x="0" y="6629400"/>
            <a:ext cx="12191695" cy="27432"/>
          </a:xfrm>
          <a:prstGeom prst="rect">
            <a:avLst/>
          </a:prstGeom>
          <a:solidFill>
            <a:srgbClr val="E5E7EB"/>
          </a:solidFill>
          <a:ln>
            <a:noFill/>
          </a:ln>
        </p:spPr>
      </p:sp>
      <p:sp>
        <p:nvSpPr>
          <p:cNvPr id="6" name="TextBox 6"/>
          <p:cNvSpPr txBox="1"/>
          <p:nvPr/>
        </p:nvSpPr>
        <p:spPr>
          <a:xfrm>
            <a:off x="502920" y="6665976"/>
            <a:ext cx="6400800" cy="201168"/>
          </a:xfrm>
          <a:prstGeom prst="rect">
            <a:avLst/>
          </a:prstGeom>
          <a:noFill/>
          <a:ln>
            <a:noFill/>
          </a:ln>
        </p:spPr>
        <p:txBody>
          <a:bodyPr wrap="square" lIns="91440" tIns="45720" rIns="91440" bIns="45720"/>
          <a:lstStyle/>
          <a:p>
            <a:r>
              <a:rPr lang="vi-VN" sz="800">
                <a:solidFill>
                  <a:srgbClr val="64748B"/>
                </a:solidFill>
              </a:rPr>
              <a:t>Used Car Price AI • XGBoost + YOLOv8s + ConvNeXt-Tiny</a:t>
            </a:r>
          </a:p>
        </p:txBody>
      </p:sp>
      <p:sp>
        <p:nvSpPr>
          <p:cNvPr id="7" name="Shape 7"/>
          <p:cNvSpPr/>
          <p:nvPr/>
        </p:nvSpPr>
        <p:spPr>
          <a:xfrm>
            <a:off x="731520" y="1280160"/>
            <a:ext cx="10698480" cy="3566160"/>
          </a:xfrm>
          <a:prstGeom prst="roundRect">
            <a:avLst/>
          </a:prstGeom>
          <a:solidFill>
            <a:srgbClr val="F8FAFC"/>
          </a:solidFill>
          <a:ln w="12700">
            <a:solidFill>
              <a:srgbClr val="CBD5E1"/>
            </a:solidFill>
          </a:ln>
        </p:spPr>
      </p:sp>
      <p:sp>
        <p:nvSpPr>
          <p:cNvPr id="8" name="Bullets 8"/>
          <p:cNvSpPr txBox="1"/>
          <p:nvPr/>
        </p:nvSpPr>
        <p:spPr>
          <a:xfrm>
            <a:off x="1051560" y="1600200"/>
            <a:ext cx="9966960" cy="2606040"/>
          </a:xfrm>
          <a:prstGeom prst="rect">
            <a:avLst/>
          </a:prstGeom>
          <a:noFill/>
          <a:ln>
            <a:noFill/>
          </a:ln>
        </p:spPr>
        <p:txBody>
          <a:bodyPr wrap="square" lIns="0" tIns="0" rIns="0" bIns="0"/>
          <a:lstStyle/>
          <a:p>
            <a:pPr marL="342900" indent="-171450">
              <a:buChar char="•"/>
            </a:pPr>
            <a:r>
              <a:rPr lang="vi-VN" sz="2200">
                <a:solidFill>
                  <a:srgbClr val="111827"/>
                </a:solidFill>
              </a:rPr>
              <a:t>XGBoost dự đoán giá cơ sở từ dữ liệu bảng.</a:t>
            </a:r>
          </a:p>
          <a:p>
            <a:pPr marL="342900" indent="-171450">
              <a:buChar char="•"/>
            </a:pPr>
            <a:r>
              <a:rPr lang="vi-VN" sz="2200">
                <a:solidFill>
                  <a:srgbClr val="111827"/>
                </a:solidFill>
              </a:rPr>
              <a:t>YOLOv8s phát hiện các vùng hư hỏng ngoại thất.</a:t>
            </a:r>
          </a:p>
          <a:p>
            <a:pPr marL="342900" indent="-171450">
              <a:buChar char="•"/>
            </a:pPr>
            <a:r>
              <a:rPr lang="vi-VN" sz="2200">
                <a:solidFill>
                  <a:srgbClr val="111827"/>
                </a:solidFill>
              </a:rPr>
              <a:t>ConvNeXt-Tiny phân loại mức độ hư hỏng từ ảnh full.</a:t>
            </a:r>
          </a:p>
          <a:p>
            <a:pPr marL="342900" indent="-171450">
              <a:buChar char="•"/>
            </a:pPr>
            <a:r>
              <a:rPr lang="vi-VN" sz="2200">
                <a:solidFill>
                  <a:srgbClr val="111827"/>
                </a:solidFill>
              </a:rPr>
              <a:t>Rule-based layer tạo giá sau điều chỉnh và giải thích mức giảm.</a:t>
            </a:r>
          </a:p>
          <a:p>
            <a:pPr marL="342900" indent="-171450">
              <a:buChar char="•"/>
            </a:pPr>
            <a:r>
              <a:rPr lang="vi-VN" sz="2200">
                <a:solidFill>
                  <a:srgbClr val="111827"/>
                </a:solidFill>
              </a:rPr>
              <a:t>Streamlit demo cho phép thử nghiệm luồng end-to-end.</a:t>
            </a:r>
          </a:p>
        </p:txBody>
      </p:sp>
      <p:sp>
        <p:nvSpPr>
          <p:cNvPr id="9" name="TextBox 9"/>
          <p:cNvSpPr txBox="1"/>
          <p:nvPr/>
        </p:nvSpPr>
        <p:spPr>
          <a:xfrm>
            <a:off x="868680" y="5257800"/>
            <a:ext cx="10424160" cy="548640"/>
          </a:xfrm>
          <a:prstGeom prst="roundRect">
            <a:avLst/>
          </a:prstGeom>
          <a:solidFill>
            <a:srgbClr val="DCFCE7"/>
          </a:solidFill>
          <a:ln w="12700">
            <a:solidFill>
              <a:srgbClr val="86EFAC"/>
            </a:solidFill>
          </a:ln>
        </p:spPr>
        <p:txBody>
          <a:bodyPr wrap="square" lIns="91440" tIns="45720" rIns="91440" bIns="45720"/>
          <a:lstStyle/>
          <a:p>
            <a:r>
              <a:rPr lang="vi-VN" sz="1800" b="1">
                <a:solidFill>
                  <a:srgbClr val="0F172A"/>
                </a:solidFill>
              </a:rPr>
              <a:t>Thông điệp chính: hệ thống chưa thay thế định giá chuyên nghiệp, nhưng chứng minh được hướng kết hợp ML tabular và Computer Vision để hỗ trợ định giá xe cũ.</a:t>
            </a:r>
          </a:p>
        </p:txBody>
      </p:sp>
    </p:spTree>
  </p:cSld>
  <p:clrMapOvr>
    <a:masterClrMapping/>
  </p:clrMapOvr>
</p:sld>
</file>

<file path=ppt/theme/theme1.xml><?xml version="1.0" encoding="utf-8"?>
<a:theme xmlns:a="http://schemas.openxmlformats.org/drawingml/2006/main" name="Office Theme">
  <a:themeElements>
    <a:clrScheme name="Codex">
      <a:dk1>
        <a:srgbClr val="111827"/>
      </a:dk1>
      <a:lt1>
        <a:srgbClr val="FFFFFF"/>
      </a:lt1>
      <a:dk2>
        <a:srgbClr val="1F2937"/>
      </a:dk2>
      <a:lt2>
        <a:srgbClr val="F8FAFC"/>
      </a:lt2>
      <a:accent1>
        <a:srgbClr val="2563EB"/>
      </a:accent1>
      <a:accent2>
        <a:srgbClr val="EF4444"/>
      </a:accent2>
      <a:accent3>
        <a:srgbClr val="16A34A"/>
      </a:accent3>
      <a:accent4>
        <a:srgbClr val="7C3AED"/>
      </a:accent4>
      <a:accent5>
        <a:srgbClr val="F59E0B"/>
      </a:accent5>
      <a:accent6>
        <a:srgbClr val="0EA5E9"/>
      </a:accent6>
      <a:hlink>
        <a:srgbClr val="2563EB"/>
      </a:hlink>
      <a:folHlink>
        <a:srgbClr val="7C3AED"/>
      </a:folHlink>
    </a:clrScheme>
    <a:fontScheme name="Office">
      <a:majorFont>
        <a:latin typeface="Arial"/>
      </a:majorFont>
      <a:minorFont>
        <a:latin typeface="Arial"/>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Codex</Application>
  <PresentationFormat>Widescreen</PresentationFormat>
  <Slides>16</Slides>
  <Notes>0</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báo cáo dự án định giá xe cũ</dc:title>
  <dc:creator>Codex</dc:creator>
  <cp:lastModifiedBy>Codex</cp:lastModifiedBy>
  <dcterms:created xsi:type="dcterms:W3CDTF">2026-06-14T21:51:12Z</dcterms:created>
  <dcterms:modified xsi:type="dcterms:W3CDTF">2026-06-14T21:51:12Z</dcterms:modified>
</cp:coreProperties>
</file>